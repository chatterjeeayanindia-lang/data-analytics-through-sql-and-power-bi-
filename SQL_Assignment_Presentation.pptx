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16"/>
  </p:notes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7" autoAdjust="0"/>
    <p:restoredTop sz="83529" autoAdjust="0"/>
  </p:normalViewPr>
  <p:slideViewPr>
    <p:cSldViewPr snapToGrid="0" snapToObjects="1">
      <p:cViewPr>
        <p:scale>
          <a:sx n="76" d="100"/>
          <a:sy n="76" d="100"/>
        </p:scale>
        <p:origin x="1642" y="43"/>
      </p:cViewPr>
      <p:guideLst>
        <p:guide orient="horz" pos="2160"/>
        <p:guide pos="2880"/>
      </p:guideLst>
    </p:cSldViewPr>
  </p:slideViewPr>
  <p:outlineViewPr>
    <p:cViewPr>
      <p:scale>
        <a:sx n="33" d="100"/>
        <a:sy n="33" d="100"/>
      </p:scale>
      <p:origin x="0" y="-1963"/>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382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69790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Before starting the SQL analysis, all dataset sheets were first converted into CSV format to ensure compatibility with MySQL Workbench. The CSV files were then imported individually into the database environment.</a:t>
            </a:r>
          </a:p>
          <a:p>
            <a:r>
              <a:rPr lang="en-US" dirty="0"/>
              <a:t>A single database named </a:t>
            </a:r>
            <a:r>
              <a:rPr lang="en-US" sz="1200" kern="1200" dirty="0" err="1">
                <a:solidFill>
                  <a:schemeClr val="tx1"/>
                </a:solidFill>
                <a:latin typeface="+mn-lt"/>
                <a:ea typeface="+mn-ea"/>
                <a:cs typeface="+mn-cs"/>
              </a:rPr>
              <a:t>commodities_supply</a:t>
            </a:r>
            <a:r>
              <a:rPr lang="en-US" dirty="0"/>
              <a:t> was created to manage all related datasets in one place. Separate tables such as </a:t>
            </a:r>
            <a:r>
              <a:rPr lang="en-US" sz="1200" kern="1200" dirty="0" err="1">
                <a:solidFill>
                  <a:schemeClr val="tx1"/>
                </a:solidFill>
                <a:latin typeface="+mn-lt"/>
                <a:ea typeface="+mn-ea"/>
                <a:cs typeface="+mn-cs"/>
              </a:rPr>
              <a:t>price_detail</a:t>
            </a:r>
            <a:r>
              <a:rPr lang="en-US" dirty="0"/>
              <a:t>, </a:t>
            </a:r>
            <a:r>
              <a:rPr lang="en-US" sz="1200" kern="1200" dirty="0" err="1">
                <a:solidFill>
                  <a:schemeClr val="tx1"/>
                </a:solidFill>
                <a:latin typeface="+mn-lt"/>
                <a:ea typeface="+mn-ea"/>
                <a:cs typeface="+mn-cs"/>
              </a:rPr>
              <a:t>commodities_info</a:t>
            </a:r>
            <a:r>
              <a:rPr lang="en-US" dirty="0"/>
              <a:t>, </a:t>
            </a:r>
            <a:r>
              <a:rPr lang="en-US" sz="1200" kern="1200" dirty="0">
                <a:solidFill>
                  <a:schemeClr val="tx1"/>
                </a:solidFill>
                <a:latin typeface="+mn-lt"/>
                <a:ea typeface="+mn-ea"/>
                <a:cs typeface="+mn-cs"/>
              </a:rPr>
              <a:t>region</a:t>
            </a:r>
            <a:r>
              <a:rPr lang="en-US" dirty="0"/>
              <a:t>, </a:t>
            </a:r>
            <a:r>
              <a:rPr lang="en-US" sz="1200" kern="1200" dirty="0">
                <a:solidFill>
                  <a:schemeClr val="tx1"/>
                </a:solidFill>
                <a:latin typeface="+mn-lt"/>
                <a:ea typeface="+mn-ea"/>
                <a:cs typeface="+mn-cs"/>
              </a:rPr>
              <a:t>orders csv</a:t>
            </a:r>
            <a:r>
              <a:rPr lang="en-US" dirty="0"/>
              <a:t>, </a:t>
            </a:r>
            <a:r>
              <a:rPr lang="en-US" sz="1200" kern="1200" dirty="0" err="1">
                <a:solidFill>
                  <a:schemeClr val="tx1"/>
                </a:solidFill>
                <a:latin typeface="+mn-lt"/>
                <a:ea typeface="+mn-ea"/>
                <a:cs typeface="+mn-cs"/>
              </a:rPr>
              <a:t>orders_items</a:t>
            </a:r>
            <a:r>
              <a:rPr lang="en-US" sz="1200" kern="1200" dirty="0">
                <a:solidFill>
                  <a:schemeClr val="tx1"/>
                </a:solidFill>
                <a:latin typeface="+mn-lt"/>
                <a:ea typeface="+mn-ea"/>
                <a:cs typeface="+mn-cs"/>
              </a:rPr>
              <a:t> csv</a:t>
            </a:r>
            <a:r>
              <a:rPr lang="en-US" dirty="0"/>
              <a:t>, </a:t>
            </a:r>
            <a:r>
              <a:rPr lang="en-US" sz="1200" kern="1200" dirty="0" err="1">
                <a:solidFill>
                  <a:schemeClr val="tx1"/>
                </a:solidFill>
                <a:latin typeface="+mn-lt"/>
                <a:ea typeface="+mn-ea"/>
                <a:cs typeface="+mn-cs"/>
              </a:rPr>
              <a:t>customer_info</a:t>
            </a:r>
            <a:r>
              <a:rPr lang="en-US" dirty="0"/>
              <a:t>, </a:t>
            </a:r>
            <a:r>
              <a:rPr lang="en-US" sz="1200" kern="1200" dirty="0" err="1">
                <a:solidFill>
                  <a:schemeClr val="tx1"/>
                </a:solidFill>
                <a:latin typeface="+mn-lt"/>
                <a:ea typeface="+mn-ea"/>
                <a:cs typeface="+mn-cs"/>
              </a:rPr>
              <a:t>product_info</a:t>
            </a:r>
            <a:r>
              <a:rPr lang="en-US" dirty="0"/>
              <a:t>, and </a:t>
            </a:r>
            <a:r>
              <a:rPr lang="en-US" sz="1200" kern="1200" dirty="0">
                <a:solidFill>
                  <a:schemeClr val="tx1"/>
                </a:solidFill>
                <a:latin typeface="+mn-lt"/>
                <a:ea typeface="+mn-ea"/>
                <a:cs typeface="+mn-cs"/>
              </a:rPr>
              <a:t>department</a:t>
            </a:r>
            <a:r>
              <a:rPr lang="en-US" dirty="0"/>
              <a:t> were created during the import process.</a:t>
            </a:r>
          </a:p>
          <a:p>
            <a:r>
              <a:rPr lang="en-US" dirty="0"/>
              <a:t>During the implementation stage, table names and column names were verified carefully to ensure correct joins and query execution. Additional corrections were made for date formatting issues using </a:t>
            </a:r>
            <a:r>
              <a:rPr lang="en-US" sz="1200" kern="1200" dirty="0">
                <a:solidFill>
                  <a:schemeClr val="tx1"/>
                </a:solidFill>
                <a:latin typeface="+mn-lt"/>
                <a:ea typeface="+mn-ea"/>
                <a:cs typeface="+mn-cs"/>
              </a:rPr>
              <a:t>STR_TO_DATE()</a:t>
            </a:r>
            <a:r>
              <a:rPr lang="en-US" dirty="0"/>
              <a:t> because some date fields were stored as text instead of proper date datatypes.</a:t>
            </a:r>
          </a:p>
        </p:txBody>
      </p:sp>
    </p:spTree>
    <p:extLst>
      <p:ext uri="{BB962C8B-B14F-4D97-AF65-F5344CB8AC3E}">
        <p14:creationId xmlns:p14="http://schemas.microsoft.com/office/powerpoint/2010/main" val="620219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identify the commodities that were common in the Top 10 most expensive commodities in both 2019 and 2020. To solve this problem, two Common Table Expressions named </a:t>
            </a:r>
            <a:r>
              <a:rPr lang="en-US" sz="1200" kern="1200" dirty="0">
                <a:solidFill>
                  <a:schemeClr val="tx1"/>
                </a:solidFill>
                <a:latin typeface="+mn-lt"/>
                <a:ea typeface="+mn-ea"/>
                <a:cs typeface="+mn-cs"/>
              </a:rPr>
              <a:t>top_2019</a:t>
            </a:r>
            <a:r>
              <a:rPr lang="en-US" dirty="0"/>
              <a:t> and </a:t>
            </a:r>
            <a:r>
              <a:rPr lang="en-US" sz="1200" kern="1200" dirty="0">
                <a:solidFill>
                  <a:schemeClr val="tx1"/>
                </a:solidFill>
                <a:latin typeface="+mn-lt"/>
                <a:ea typeface="+mn-ea"/>
                <a:cs typeface="+mn-cs"/>
              </a:rPr>
              <a:t>top_2020</a:t>
            </a:r>
            <a:r>
              <a:rPr lang="en-US" dirty="0"/>
              <a:t> were created. In both CTEs, the </a:t>
            </a:r>
            <a:r>
              <a:rPr lang="en-US" sz="1200" kern="1200" dirty="0" err="1">
                <a:solidFill>
                  <a:schemeClr val="tx1"/>
                </a:solidFill>
                <a:latin typeface="+mn-lt"/>
                <a:ea typeface="+mn-ea"/>
                <a:cs typeface="+mn-cs"/>
              </a:rPr>
              <a:t>price_detail</a:t>
            </a:r>
            <a:r>
              <a:rPr lang="en-US" dirty="0"/>
              <a:t> table was joined with </a:t>
            </a:r>
            <a:r>
              <a:rPr lang="en-US" sz="1200" kern="1200" dirty="0" err="1">
                <a:solidFill>
                  <a:schemeClr val="tx1"/>
                </a:solidFill>
                <a:latin typeface="+mn-lt"/>
                <a:ea typeface="+mn-ea"/>
                <a:cs typeface="+mn-cs"/>
              </a:rPr>
              <a:t>commodities_info</a:t>
            </a:r>
            <a:r>
              <a:rPr lang="en-US" dirty="0"/>
              <a:t> using </a:t>
            </a:r>
            <a:r>
              <a:rPr lang="en-US" sz="1200" kern="1200" dirty="0" err="1">
                <a:solidFill>
                  <a:schemeClr val="tx1"/>
                </a:solidFill>
                <a:latin typeface="+mn-lt"/>
                <a:ea typeface="+mn-ea"/>
                <a:cs typeface="+mn-cs"/>
              </a:rPr>
              <a:t>commodity_id</a:t>
            </a:r>
            <a:r>
              <a:rPr lang="en-US" dirty="0"/>
              <a:t> and </a:t>
            </a:r>
            <a:r>
              <a:rPr lang="en-US" sz="1200" kern="1200" dirty="0">
                <a:solidFill>
                  <a:schemeClr val="tx1"/>
                </a:solidFill>
                <a:latin typeface="+mn-lt"/>
                <a:ea typeface="+mn-ea"/>
                <a:cs typeface="+mn-cs"/>
              </a:rPr>
              <a:t>id</a:t>
            </a:r>
            <a:r>
              <a:rPr lang="en-US" dirty="0"/>
              <a:t> to retrieve the commodity names.</a:t>
            </a:r>
          </a:p>
          <a:p>
            <a:r>
              <a:rPr lang="en-US" dirty="0"/>
              <a:t>The query used the </a:t>
            </a:r>
            <a:r>
              <a:rPr lang="en-US" sz="1200" kern="1200" dirty="0">
                <a:solidFill>
                  <a:schemeClr val="tx1"/>
                </a:solidFill>
                <a:latin typeface="+mn-lt"/>
                <a:ea typeface="+mn-ea"/>
                <a:cs typeface="+mn-cs"/>
              </a:rPr>
              <a:t>AVG(</a:t>
            </a:r>
            <a:r>
              <a:rPr lang="en-US" sz="1200" kern="1200" dirty="0" err="1">
                <a:solidFill>
                  <a:schemeClr val="tx1"/>
                </a:solidFill>
                <a:latin typeface="+mn-lt"/>
                <a:ea typeface="+mn-ea"/>
                <a:cs typeface="+mn-cs"/>
              </a:rPr>
              <a:t>retail_price</a:t>
            </a:r>
            <a:r>
              <a:rPr lang="en-US" sz="1200" kern="1200" dirty="0">
                <a:solidFill>
                  <a:schemeClr val="tx1"/>
                </a:solidFill>
                <a:latin typeface="+mn-lt"/>
                <a:ea typeface="+mn-ea"/>
                <a:cs typeface="+mn-cs"/>
              </a:rPr>
              <a:t>)</a:t>
            </a:r>
            <a:r>
              <a:rPr lang="en-US" dirty="0"/>
              <a:t> function to calculate the average price of each commodity for each year separately. The </a:t>
            </a:r>
            <a:r>
              <a:rPr lang="en-US" sz="1200" kern="1200" dirty="0">
                <a:solidFill>
                  <a:schemeClr val="tx1"/>
                </a:solidFill>
                <a:latin typeface="+mn-lt"/>
                <a:ea typeface="+mn-ea"/>
                <a:cs typeface="+mn-cs"/>
              </a:rPr>
              <a:t>YEAR()</a:t>
            </a:r>
            <a:r>
              <a:rPr lang="en-US" dirty="0"/>
              <a:t> function along with </a:t>
            </a:r>
            <a:r>
              <a:rPr lang="en-US" sz="1200" kern="1200" dirty="0">
                <a:solidFill>
                  <a:schemeClr val="tx1"/>
                </a:solidFill>
                <a:latin typeface="+mn-lt"/>
                <a:ea typeface="+mn-ea"/>
                <a:cs typeface="+mn-cs"/>
              </a:rPr>
              <a:t>STR_TO_DATE()</a:t>
            </a:r>
            <a:r>
              <a:rPr lang="en-US" dirty="0"/>
              <a:t> was used to extract the year from the date column because the date field was stored in text format. After grouping by commodity name, the results were sorted in descending order based on average price, and </a:t>
            </a:r>
            <a:r>
              <a:rPr lang="en-US" sz="1200" kern="1200" dirty="0">
                <a:solidFill>
                  <a:schemeClr val="tx1"/>
                </a:solidFill>
                <a:latin typeface="+mn-lt"/>
                <a:ea typeface="+mn-ea"/>
                <a:cs typeface="+mn-cs"/>
              </a:rPr>
              <a:t>LIMIT 10</a:t>
            </a:r>
            <a:r>
              <a:rPr lang="en-US" dirty="0"/>
              <a:t> was applied to retain only the top 10 commodities for each year.</a:t>
            </a:r>
          </a:p>
          <a:p>
            <a:r>
              <a:rPr lang="en-US" dirty="0"/>
              <a:t>Finally, an </a:t>
            </a:r>
            <a:r>
              <a:rPr lang="en-US" sz="1200" kern="1200" dirty="0">
                <a:solidFill>
                  <a:schemeClr val="tx1"/>
                </a:solidFill>
                <a:latin typeface="+mn-lt"/>
                <a:ea typeface="+mn-ea"/>
                <a:cs typeface="+mn-cs"/>
              </a:rPr>
              <a:t>INNER JOIN</a:t>
            </a:r>
            <a:r>
              <a:rPr lang="en-US" dirty="0"/>
              <a:t> was performed between the two CTEs to identify the commodities appearing in both top 10 lists. This demonstrated the use of CTEs, joins, aggregation, filtering, sorting, and ranking techniques in SQL.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purpose of this question was to determine which commodity showed the maximum difference between the highest and lowest retail prices across different locations during June 2020. The query started by joining the </a:t>
            </a:r>
            <a:r>
              <a:rPr lang="en-US" sz="1200" kern="1200" dirty="0" err="1">
                <a:solidFill>
                  <a:schemeClr val="tx1"/>
                </a:solidFill>
                <a:latin typeface="+mn-lt"/>
                <a:ea typeface="+mn-ea"/>
                <a:cs typeface="+mn-cs"/>
              </a:rPr>
              <a:t>price_detail</a:t>
            </a:r>
            <a:r>
              <a:rPr lang="en-US" dirty="0"/>
              <a:t> table with the </a:t>
            </a:r>
            <a:r>
              <a:rPr lang="en-US" sz="1200" kern="1200" dirty="0" err="1">
                <a:solidFill>
                  <a:schemeClr val="tx1"/>
                </a:solidFill>
                <a:latin typeface="+mn-lt"/>
                <a:ea typeface="+mn-ea"/>
                <a:cs typeface="+mn-cs"/>
              </a:rPr>
              <a:t>commodities_info</a:t>
            </a:r>
            <a:r>
              <a:rPr lang="en-US" dirty="0"/>
              <a:t> table to obtain the commodity names.</a:t>
            </a:r>
          </a:p>
          <a:p>
            <a:r>
              <a:rPr lang="en-US" dirty="0"/>
              <a:t>The </a:t>
            </a:r>
            <a:r>
              <a:rPr lang="en-US" sz="1200" kern="1200" dirty="0">
                <a:solidFill>
                  <a:schemeClr val="tx1"/>
                </a:solidFill>
                <a:latin typeface="+mn-lt"/>
                <a:ea typeface="+mn-ea"/>
                <a:cs typeface="+mn-cs"/>
              </a:rPr>
              <a:t>WHERE</a:t>
            </a:r>
            <a:r>
              <a:rPr lang="en-US" dirty="0"/>
              <a:t> clause filtered records only for June 2020 using the </a:t>
            </a:r>
            <a:r>
              <a:rPr lang="en-US" sz="1200" kern="1200" dirty="0">
                <a:solidFill>
                  <a:schemeClr val="tx1"/>
                </a:solidFill>
                <a:latin typeface="+mn-lt"/>
                <a:ea typeface="+mn-ea"/>
                <a:cs typeface="+mn-cs"/>
              </a:rPr>
              <a:t>YEAR()</a:t>
            </a:r>
            <a:r>
              <a:rPr lang="en-US" dirty="0"/>
              <a:t> and </a:t>
            </a:r>
            <a:r>
              <a:rPr lang="en-US" sz="1200" kern="1200" dirty="0">
                <a:solidFill>
                  <a:schemeClr val="tx1"/>
                </a:solidFill>
                <a:latin typeface="+mn-lt"/>
                <a:ea typeface="+mn-ea"/>
                <a:cs typeface="+mn-cs"/>
              </a:rPr>
              <a:t>MONTH()</a:t>
            </a:r>
            <a:r>
              <a:rPr lang="en-US" dirty="0"/>
              <a:t> functions. Since the date column was stored as text, </a:t>
            </a:r>
            <a:r>
              <a:rPr lang="en-US" sz="1200" kern="1200" dirty="0">
                <a:solidFill>
                  <a:schemeClr val="tx1"/>
                </a:solidFill>
                <a:latin typeface="+mn-lt"/>
                <a:ea typeface="+mn-ea"/>
                <a:cs typeface="+mn-cs"/>
              </a:rPr>
              <a:t>STR_TO_DATE()</a:t>
            </a:r>
            <a:r>
              <a:rPr lang="en-US" dirty="0"/>
              <a:t> was applied before extracting the year and month. The query grouped the data by commodity name and used the aggregate functions </a:t>
            </a:r>
            <a:r>
              <a:rPr lang="en-US" sz="1200" kern="1200" dirty="0">
                <a:solidFill>
                  <a:schemeClr val="tx1"/>
                </a:solidFill>
                <a:latin typeface="+mn-lt"/>
                <a:ea typeface="+mn-ea"/>
                <a:cs typeface="+mn-cs"/>
              </a:rPr>
              <a:t>MAX(</a:t>
            </a:r>
            <a:r>
              <a:rPr lang="en-US" sz="1200" kern="1200" dirty="0" err="1">
                <a:solidFill>
                  <a:schemeClr val="tx1"/>
                </a:solidFill>
                <a:latin typeface="+mn-lt"/>
                <a:ea typeface="+mn-ea"/>
                <a:cs typeface="+mn-cs"/>
              </a:rPr>
              <a:t>retail_price</a:t>
            </a:r>
            <a:r>
              <a:rPr lang="en-US" sz="1200" kern="1200" dirty="0">
                <a:solidFill>
                  <a:schemeClr val="tx1"/>
                </a:solidFill>
                <a:latin typeface="+mn-lt"/>
                <a:ea typeface="+mn-ea"/>
                <a:cs typeface="+mn-cs"/>
              </a:rPr>
              <a:t>)</a:t>
            </a:r>
            <a:r>
              <a:rPr lang="en-US" dirty="0"/>
              <a:t> and </a:t>
            </a:r>
            <a:r>
              <a:rPr lang="en-US" sz="1200" kern="1200" dirty="0">
                <a:solidFill>
                  <a:schemeClr val="tx1"/>
                </a:solidFill>
                <a:latin typeface="+mn-lt"/>
                <a:ea typeface="+mn-ea"/>
                <a:cs typeface="+mn-cs"/>
              </a:rPr>
              <a:t>MIN(</a:t>
            </a:r>
            <a:r>
              <a:rPr lang="en-US" sz="1200" kern="1200" dirty="0" err="1">
                <a:solidFill>
                  <a:schemeClr val="tx1"/>
                </a:solidFill>
                <a:latin typeface="+mn-lt"/>
                <a:ea typeface="+mn-ea"/>
                <a:cs typeface="+mn-cs"/>
              </a:rPr>
              <a:t>retail_price</a:t>
            </a:r>
            <a:r>
              <a:rPr lang="en-US" sz="1200" kern="1200" dirty="0">
                <a:solidFill>
                  <a:schemeClr val="tx1"/>
                </a:solidFill>
                <a:latin typeface="+mn-lt"/>
                <a:ea typeface="+mn-ea"/>
                <a:cs typeface="+mn-cs"/>
              </a:rPr>
              <a:t>)</a:t>
            </a:r>
            <a:r>
              <a:rPr lang="en-US" dirty="0"/>
              <a:t> to identify the highest and lowest prices for each commodity.</a:t>
            </a:r>
          </a:p>
          <a:p>
            <a:r>
              <a:rPr lang="en-US" dirty="0"/>
              <a:t>A new calculated field called </a:t>
            </a:r>
            <a:r>
              <a:rPr lang="en-US" sz="1200" kern="1200" dirty="0" err="1">
                <a:solidFill>
                  <a:schemeClr val="tx1"/>
                </a:solidFill>
                <a:latin typeface="+mn-lt"/>
                <a:ea typeface="+mn-ea"/>
                <a:cs typeface="+mn-cs"/>
              </a:rPr>
              <a:t>price_difference</a:t>
            </a:r>
            <a:r>
              <a:rPr lang="en-US" dirty="0"/>
              <a:t> was created by subtracting the minimum price from the maximum price. The results were then sorted in descending order using </a:t>
            </a:r>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price_difference</a:t>
            </a:r>
            <a:r>
              <a:rPr lang="en-US" sz="1200" kern="1200" dirty="0">
                <a:solidFill>
                  <a:schemeClr val="tx1"/>
                </a:solidFill>
                <a:latin typeface="+mn-lt"/>
                <a:ea typeface="+mn-ea"/>
                <a:cs typeface="+mn-cs"/>
              </a:rPr>
              <a:t> DESC</a:t>
            </a:r>
            <a:r>
              <a:rPr lang="en-US" dirty="0"/>
              <a:t>, and </a:t>
            </a:r>
            <a:r>
              <a:rPr lang="en-US" sz="1200" kern="1200" dirty="0">
                <a:solidFill>
                  <a:schemeClr val="tx1"/>
                </a:solidFill>
                <a:latin typeface="+mn-lt"/>
                <a:ea typeface="+mn-ea"/>
                <a:cs typeface="+mn-cs"/>
              </a:rPr>
              <a:t>LIMIT 1</a:t>
            </a:r>
            <a:r>
              <a:rPr lang="en-US" dirty="0"/>
              <a:t> was used to retain only the commodity with the greatest variation. This question demonstrated filtering, grouping, aggregation, calculations, and sorting operations in SQL.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rank commodities according to the number of varieties available and identify the commodity in the third position. The query used only the </a:t>
            </a:r>
            <a:r>
              <a:rPr lang="en-US" sz="1200" kern="1200" dirty="0" err="1">
                <a:solidFill>
                  <a:schemeClr val="tx1"/>
                </a:solidFill>
                <a:latin typeface="+mn-lt"/>
                <a:ea typeface="+mn-ea"/>
                <a:cs typeface="+mn-cs"/>
              </a:rPr>
              <a:t>commodities_info</a:t>
            </a:r>
            <a:r>
              <a:rPr lang="en-US" dirty="0"/>
              <a:t> table because all required information was available within it.</a:t>
            </a:r>
          </a:p>
          <a:p>
            <a:r>
              <a:rPr lang="en-US" dirty="0"/>
              <a:t>The </a:t>
            </a:r>
            <a:r>
              <a:rPr lang="en-US" sz="1200" kern="1200" dirty="0">
                <a:solidFill>
                  <a:schemeClr val="tx1"/>
                </a:solidFill>
                <a:latin typeface="+mn-lt"/>
                <a:ea typeface="+mn-ea"/>
                <a:cs typeface="+mn-cs"/>
              </a:rPr>
              <a:t>COUNT(DISTINCT variety)</a:t>
            </a:r>
            <a:r>
              <a:rPr lang="en-US" dirty="0"/>
              <a:t> function was applied to count the number of unique varieties available for each commodity. </a:t>
            </a:r>
            <a:r>
              <a:rPr lang="en-US" sz="1200" kern="1200" dirty="0">
                <a:solidFill>
                  <a:schemeClr val="tx1"/>
                </a:solidFill>
                <a:latin typeface="+mn-lt"/>
                <a:ea typeface="+mn-ea"/>
                <a:cs typeface="+mn-cs"/>
              </a:rPr>
              <a:t>GROUP BY commodity</a:t>
            </a:r>
            <a:r>
              <a:rPr lang="en-US" dirty="0"/>
              <a:t> was used to aggregate the records commodity-wise. The results were sorted in descending order using </a:t>
            </a:r>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variety_count</a:t>
            </a:r>
            <a:r>
              <a:rPr lang="en-US" sz="1200" kern="1200" dirty="0">
                <a:solidFill>
                  <a:schemeClr val="tx1"/>
                </a:solidFill>
                <a:latin typeface="+mn-lt"/>
                <a:ea typeface="+mn-ea"/>
                <a:cs typeface="+mn-cs"/>
              </a:rPr>
              <a:t> DESC</a:t>
            </a:r>
            <a:r>
              <a:rPr lang="en-US" dirty="0"/>
              <a:t> so that commodities with the highest variety counts appeared at the top.</a:t>
            </a:r>
          </a:p>
          <a:p>
            <a:r>
              <a:rPr lang="en-US" dirty="0"/>
              <a:t>To retrieve the third ranked commodity, the query used </a:t>
            </a:r>
            <a:r>
              <a:rPr lang="en-US" sz="1200" kern="1200" dirty="0">
                <a:solidFill>
                  <a:schemeClr val="tx1"/>
                </a:solidFill>
                <a:latin typeface="+mn-lt"/>
                <a:ea typeface="+mn-ea"/>
                <a:cs typeface="+mn-cs"/>
              </a:rPr>
              <a:t>LIMIT 1 OFFSET 2</a:t>
            </a:r>
            <a:r>
              <a:rPr lang="en-US" dirty="0"/>
              <a:t>. The offset skipped the first two rows, and the limit retained only the third row. This question demonstrated the use of distinct counting, aggregation, sorting, and ranking techniques in SQL.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requirement of this question was to first identify the state with the least number of data records and then determine which commodity had the highest number of records within that state. To solve this, the query used two Common Table Expressions.</a:t>
            </a:r>
          </a:p>
          <a:p>
            <a:r>
              <a:rPr lang="en-US" dirty="0"/>
              <a:t>The first CTE named </a:t>
            </a:r>
            <a:r>
              <a:rPr lang="en-US" sz="1200" kern="1200" dirty="0" err="1">
                <a:solidFill>
                  <a:schemeClr val="tx1"/>
                </a:solidFill>
                <a:latin typeface="+mn-lt"/>
                <a:ea typeface="+mn-ea"/>
                <a:cs typeface="+mn-cs"/>
              </a:rPr>
              <a:t>state_counts</a:t>
            </a:r>
            <a:r>
              <a:rPr lang="en-US" dirty="0"/>
              <a:t> joined the </a:t>
            </a:r>
            <a:r>
              <a:rPr lang="en-US" sz="1200" kern="1200" dirty="0" err="1">
                <a:solidFill>
                  <a:schemeClr val="tx1"/>
                </a:solidFill>
                <a:latin typeface="+mn-lt"/>
                <a:ea typeface="+mn-ea"/>
                <a:cs typeface="+mn-cs"/>
              </a:rPr>
              <a:t>price_detail</a:t>
            </a:r>
            <a:r>
              <a:rPr lang="en-US" dirty="0"/>
              <a:t> table with the </a:t>
            </a:r>
            <a:r>
              <a:rPr lang="en-US" sz="1200" kern="1200" dirty="0">
                <a:solidFill>
                  <a:schemeClr val="tx1"/>
                </a:solidFill>
                <a:latin typeface="+mn-lt"/>
                <a:ea typeface="+mn-ea"/>
                <a:cs typeface="+mn-cs"/>
              </a:rPr>
              <a:t>region</a:t>
            </a:r>
            <a:r>
              <a:rPr lang="en-US" dirty="0"/>
              <a:t> table using </a:t>
            </a:r>
            <a:r>
              <a:rPr lang="en-US" sz="1200" kern="1200" dirty="0" err="1">
                <a:solidFill>
                  <a:schemeClr val="tx1"/>
                </a:solidFill>
                <a:latin typeface="+mn-lt"/>
                <a:ea typeface="+mn-ea"/>
                <a:cs typeface="+mn-cs"/>
              </a:rPr>
              <a:t>region_id</a:t>
            </a:r>
            <a:r>
              <a:rPr lang="en-US" dirty="0"/>
              <a:t> and </a:t>
            </a:r>
            <a:r>
              <a:rPr lang="en-US" sz="1200" kern="1200" dirty="0">
                <a:solidFill>
                  <a:schemeClr val="tx1"/>
                </a:solidFill>
                <a:latin typeface="+mn-lt"/>
                <a:ea typeface="+mn-ea"/>
                <a:cs typeface="+mn-cs"/>
              </a:rPr>
              <a:t>id</a:t>
            </a:r>
            <a:r>
              <a:rPr lang="en-US" dirty="0"/>
              <a:t>. The query counted the number of records for each state using </a:t>
            </a:r>
            <a:r>
              <a:rPr lang="en-US" sz="1200" kern="1200" dirty="0">
                <a:solidFill>
                  <a:schemeClr val="tx1"/>
                </a:solidFill>
                <a:latin typeface="+mn-lt"/>
                <a:ea typeface="+mn-ea"/>
                <a:cs typeface="+mn-cs"/>
              </a:rPr>
              <a:t>COUNT()</a:t>
            </a:r>
            <a:r>
              <a:rPr lang="en-US" dirty="0"/>
              <a:t> and grouped the results by state. The records were sorted in ascending order, and </a:t>
            </a:r>
            <a:r>
              <a:rPr lang="en-US" sz="1200" kern="1200" dirty="0">
                <a:solidFill>
                  <a:schemeClr val="tx1"/>
                </a:solidFill>
                <a:latin typeface="+mn-lt"/>
                <a:ea typeface="+mn-ea"/>
                <a:cs typeface="+mn-cs"/>
              </a:rPr>
              <a:t>LIMIT 1</a:t>
            </a:r>
            <a:r>
              <a:rPr lang="en-US" dirty="0"/>
              <a:t> was applied to identify the state with the minimum number of records.</a:t>
            </a:r>
          </a:p>
          <a:p>
            <a:r>
              <a:rPr lang="en-US" dirty="0"/>
              <a:t>The second CTE named </a:t>
            </a:r>
            <a:r>
              <a:rPr lang="en-US" sz="1200" kern="1200" dirty="0" err="1">
                <a:solidFill>
                  <a:schemeClr val="tx1"/>
                </a:solidFill>
                <a:latin typeface="+mn-lt"/>
                <a:ea typeface="+mn-ea"/>
                <a:cs typeface="+mn-cs"/>
              </a:rPr>
              <a:t>commodity_counts</a:t>
            </a:r>
            <a:r>
              <a:rPr lang="en-US" dirty="0"/>
              <a:t> filtered records only for that selected state and joined the data with </a:t>
            </a:r>
            <a:r>
              <a:rPr lang="en-US" sz="1200" kern="1200" dirty="0" err="1">
                <a:solidFill>
                  <a:schemeClr val="tx1"/>
                </a:solidFill>
                <a:latin typeface="+mn-lt"/>
                <a:ea typeface="+mn-ea"/>
                <a:cs typeface="+mn-cs"/>
              </a:rPr>
              <a:t>commodities_info</a:t>
            </a:r>
            <a:r>
              <a:rPr lang="en-US" dirty="0"/>
              <a:t> to retrieve commodity names. The query then counted the number of occurrences of each commodity and sorted the results in descending order. Finally, the top commodity was selected. This question demonstrated advanced SQL concepts such as CTEs, joins, aggregation, filtering, and nested logic.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analyze commodity price variation between January 2019 and December 2020 for each city and identify the commodity with the highest percentage variation. Two Common Table Expressions named </a:t>
            </a:r>
            <a:r>
              <a:rPr lang="en-US" sz="1200" kern="1200" dirty="0">
                <a:solidFill>
                  <a:schemeClr val="tx1"/>
                </a:solidFill>
                <a:latin typeface="+mn-lt"/>
                <a:ea typeface="+mn-ea"/>
                <a:cs typeface="+mn-cs"/>
              </a:rPr>
              <a:t>jan_2019</a:t>
            </a:r>
            <a:r>
              <a:rPr lang="en-US" dirty="0"/>
              <a:t> and </a:t>
            </a:r>
            <a:r>
              <a:rPr lang="en-US" sz="1200" kern="1200" dirty="0">
                <a:solidFill>
                  <a:schemeClr val="tx1"/>
                </a:solidFill>
                <a:latin typeface="+mn-lt"/>
                <a:ea typeface="+mn-ea"/>
                <a:cs typeface="+mn-cs"/>
              </a:rPr>
              <a:t>dec_2020</a:t>
            </a:r>
            <a:r>
              <a:rPr lang="en-US" dirty="0"/>
              <a:t> were created to separately store records for January 2019 and December 2020.</a:t>
            </a:r>
          </a:p>
          <a:p>
            <a:r>
              <a:rPr lang="en-US" dirty="0"/>
              <a:t>The query filtered records using the </a:t>
            </a:r>
            <a:r>
              <a:rPr lang="en-US" sz="1200" kern="1200" dirty="0">
                <a:solidFill>
                  <a:schemeClr val="tx1"/>
                </a:solidFill>
                <a:latin typeface="+mn-lt"/>
                <a:ea typeface="+mn-ea"/>
                <a:cs typeface="+mn-cs"/>
              </a:rPr>
              <a:t>YEAR()</a:t>
            </a:r>
            <a:r>
              <a:rPr lang="en-US" dirty="0"/>
              <a:t> and </a:t>
            </a:r>
            <a:r>
              <a:rPr lang="en-US" sz="1200" kern="1200" dirty="0">
                <a:solidFill>
                  <a:schemeClr val="tx1"/>
                </a:solidFill>
                <a:latin typeface="+mn-lt"/>
                <a:ea typeface="+mn-ea"/>
                <a:cs typeface="+mn-cs"/>
              </a:rPr>
              <a:t>MONTH()</a:t>
            </a:r>
            <a:r>
              <a:rPr lang="en-US" dirty="0"/>
              <a:t> functions together with </a:t>
            </a:r>
            <a:r>
              <a:rPr lang="en-US" sz="1200" kern="1200" dirty="0">
                <a:solidFill>
                  <a:schemeClr val="tx1"/>
                </a:solidFill>
                <a:latin typeface="+mn-lt"/>
                <a:ea typeface="+mn-ea"/>
                <a:cs typeface="+mn-cs"/>
              </a:rPr>
              <a:t>STR_TO_DATE()</a:t>
            </a:r>
            <a:r>
              <a:rPr lang="en-US" dirty="0"/>
              <a:t> because the date column was stored as text. The CTEs stored the start price and end price for each commodity and region combination. These two datasets were then joined using </a:t>
            </a:r>
            <a:r>
              <a:rPr lang="en-US" sz="1200" kern="1200" dirty="0" err="1">
                <a:solidFill>
                  <a:schemeClr val="tx1"/>
                </a:solidFill>
                <a:latin typeface="+mn-lt"/>
                <a:ea typeface="+mn-ea"/>
                <a:cs typeface="+mn-cs"/>
              </a:rPr>
              <a:t>region_id</a:t>
            </a:r>
            <a:r>
              <a:rPr lang="en-US" dirty="0"/>
              <a:t> and </a:t>
            </a:r>
            <a:r>
              <a:rPr lang="en-US" sz="1200" kern="1200" dirty="0" err="1">
                <a:solidFill>
                  <a:schemeClr val="tx1"/>
                </a:solidFill>
                <a:latin typeface="+mn-lt"/>
                <a:ea typeface="+mn-ea"/>
                <a:cs typeface="+mn-cs"/>
              </a:rPr>
              <a:t>commodity_id</a:t>
            </a:r>
            <a:r>
              <a:rPr lang="en-US" dirty="0"/>
              <a:t> to compare the same commodity in the same location across two time periods.</a:t>
            </a:r>
          </a:p>
          <a:p>
            <a:r>
              <a:rPr lang="en-US" dirty="0"/>
              <a:t>The query calculated absolute variation using </a:t>
            </a:r>
            <a:r>
              <a:rPr lang="en-US" sz="1200" kern="1200" dirty="0" err="1">
                <a:solidFill>
                  <a:schemeClr val="tx1"/>
                </a:solidFill>
                <a:latin typeface="+mn-lt"/>
                <a:ea typeface="+mn-ea"/>
                <a:cs typeface="+mn-cs"/>
              </a:rPr>
              <a:t>end_price</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start_price</a:t>
            </a:r>
            <a:r>
              <a:rPr lang="en-US" dirty="0"/>
              <a:t>. Percentage variation was calculated using the formula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end_price</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start_price</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start_price</a:t>
            </a:r>
            <a:r>
              <a:rPr lang="en-US" sz="1200" kern="1200" dirty="0">
                <a:solidFill>
                  <a:schemeClr val="tx1"/>
                </a:solidFill>
                <a:latin typeface="+mn-lt"/>
                <a:ea typeface="+mn-ea"/>
                <a:cs typeface="+mn-cs"/>
              </a:rPr>
              <a:t>) * 100</a:t>
            </a:r>
            <a:r>
              <a:rPr lang="en-US" dirty="0"/>
              <a:t>. The </a:t>
            </a:r>
            <a:r>
              <a:rPr lang="en-US" sz="1200" kern="1200" dirty="0">
                <a:solidFill>
                  <a:schemeClr val="tx1"/>
                </a:solidFill>
                <a:latin typeface="+mn-lt"/>
                <a:ea typeface="+mn-ea"/>
                <a:cs typeface="+mn-cs"/>
              </a:rPr>
              <a:t>ROUND()</a:t>
            </a:r>
            <a:r>
              <a:rPr lang="en-US" dirty="0"/>
              <a:t> function was used to format percentage values to two decimal places. Finally, the results were sorted in descending order of variation percentage, and the top record was selected. This question demonstrated joins, calculations, CTEs, filtering, and percentage analysis in SQL.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analyze the number of orders by transaction type while excluding specific cities and fraudulent orders. The query used the </a:t>
            </a:r>
            <a:r>
              <a:rPr lang="en-US" sz="1200" kern="1200" dirty="0">
                <a:solidFill>
                  <a:schemeClr val="tx1"/>
                </a:solidFill>
                <a:latin typeface="+mn-lt"/>
                <a:ea typeface="+mn-ea"/>
                <a:cs typeface="+mn-cs"/>
              </a:rPr>
              <a:t>orders csv</a:t>
            </a:r>
            <a:r>
              <a:rPr lang="en-US" dirty="0"/>
              <a:t> table as the main data source.</a:t>
            </a:r>
          </a:p>
          <a:p>
            <a:r>
              <a:rPr lang="en-US" dirty="0"/>
              <a:t>The </a:t>
            </a:r>
            <a:r>
              <a:rPr lang="en-US" sz="1200" kern="1200" dirty="0">
                <a:solidFill>
                  <a:schemeClr val="tx1"/>
                </a:solidFill>
                <a:latin typeface="+mn-lt"/>
                <a:ea typeface="+mn-ea"/>
                <a:cs typeface="+mn-cs"/>
              </a:rPr>
              <a:t>WHERE</a:t>
            </a:r>
            <a:r>
              <a:rPr lang="en-US" dirty="0"/>
              <a:t> clause excluded orders from </a:t>
            </a:r>
            <a:r>
              <a:rPr lang="en-US" dirty="0" err="1"/>
              <a:t>Sangli</a:t>
            </a:r>
            <a:r>
              <a:rPr lang="en-US" dirty="0"/>
              <a:t> and Srinagar using the </a:t>
            </a:r>
            <a:r>
              <a:rPr lang="en-US" sz="1200" kern="1200" dirty="0">
                <a:solidFill>
                  <a:schemeClr val="tx1"/>
                </a:solidFill>
                <a:latin typeface="+mn-lt"/>
                <a:ea typeface="+mn-ea"/>
                <a:cs typeface="+mn-cs"/>
              </a:rPr>
              <a:t>NOT IN</a:t>
            </a:r>
            <a:r>
              <a:rPr lang="en-US" dirty="0"/>
              <a:t> condition. In addition, orders with the status </a:t>
            </a:r>
            <a:r>
              <a:rPr lang="en-US" sz="1200" kern="1200" dirty="0">
                <a:solidFill>
                  <a:schemeClr val="tx1"/>
                </a:solidFill>
                <a:latin typeface="+mn-lt"/>
                <a:ea typeface="+mn-ea"/>
                <a:cs typeface="+mn-cs"/>
              </a:rPr>
              <a:t>SUSPECTED_FRAUD</a:t>
            </a:r>
            <a:r>
              <a:rPr lang="en-US" dirty="0"/>
              <a:t> were filtered out using the </a:t>
            </a:r>
            <a:r>
              <a:rPr lang="en-US" sz="1200" kern="1200" dirty="0">
                <a:solidFill>
                  <a:schemeClr val="tx1"/>
                </a:solidFill>
                <a:latin typeface="+mn-lt"/>
                <a:ea typeface="+mn-ea"/>
                <a:cs typeface="+mn-cs"/>
              </a:rPr>
              <a:t>&lt;&gt;</a:t>
            </a:r>
            <a:r>
              <a:rPr lang="en-US" dirty="0"/>
              <a:t> operator. After applying the filters, the query grouped the records by transaction type using </a:t>
            </a:r>
            <a:r>
              <a:rPr lang="en-US" sz="1200" kern="1200" dirty="0">
                <a:solidFill>
                  <a:schemeClr val="tx1"/>
                </a:solidFill>
                <a:latin typeface="+mn-lt"/>
                <a:ea typeface="+mn-ea"/>
                <a:cs typeface="+mn-cs"/>
              </a:rPr>
              <a:t>GROUP BY type</a:t>
            </a:r>
            <a:r>
              <a:rPr lang="en-US" dirty="0"/>
              <a:t>.</a:t>
            </a:r>
          </a:p>
          <a:p>
            <a:r>
              <a:rPr lang="en-US" dirty="0"/>
              <a:t>The </a:t>
            </a:r>
            <a:r>
              <a:rPr lang="en-US" sz="1200" kern="1200" dirty="0">
                <a:solidFill>
                  <a:schemeClr val="tx1"/>
                </a:solidFill>
                <a:latin typeface="+mn-lt"/>
                <a:ea typeface="+mn-ea"/>
                <a:cs typeface="+mn-cs"/>
              </a:rPr>
              <a:t>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a:t>
            </a:r>
            <a:r>
              <a:rPr lang="en-US" dirty="0"/>
              <a:t> function was used to calculate the total number of valid orders for each transaction type. Finally, the results were sorted in descending order using </a:t>
            </a:r>
            <a:r>
              <a:rPr lang="en-US" sz="1200" kern="1200" dirty="0">
                <a:solidFill>
                  <a:schemeClr val="tx1"/>
                </a:solidFill>
                <a:latin typeface="+mn-lt"/>
                <a:ea typeface="+mn-ea"/>
                <a:cs typeface="+mn-cs"/>
              </a:rPr>
              <a:t>ORDER BY </a:t>
            </a:r>
            <a:r>
              <a:rPr lang="en-US" sz="1200" kern="1200" dirty="0" err="1">
                <a:solidFill>
                  <a:schemeClr val="tx1"/>
                </a:solidFill>
                <a:latin typeface="+mn-lt"/>
                <a:ea typeface="+mn-ea"/>
                <a:cs typeface="+mn-cs"/>
              </a:rPr>
              <a:t>orders_count</a:t>
            </a:r>
            <a:r>
              <a:rPr lang="en-US" sz="1200" kern="1200" dirty="0">
                <a:solidFill>
                  <a:schemeClr val="tx1"/>
                </a:solidFill>
                <a:latin typeface="+mn-lt"/>
                <a:ea typeface="+mn-ea"/>
                <a:cs typeface="+mn-cs"/>
              </a:rPr>
              <a:t> DESC</a:t>
            </a:r>
            <a:r>
              <a:rPr lang="en-US" dirty="0"/>
              <a:t>. This question demonstrated filtering, aggregation, grouping, and sorting operations in SQL.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requirement of this question was to identify the top three customers based on completed orders along with their sales details. The query joined three tables: </a:t>
            </a:r>
            <a:r>
              <a:rPr lang="en-US" sz="1200" kern="1200" dirty="0">
                <a:solidFill>
                  <a:schemeClr val="tx1"/>
                </a:solidFill>
                <a:latin typeface="+mn-lt"/>
                <a:ea typeface="+mn-ea"/>
                <a:cs typeface="+mn-cs"/>
              </a:rPr>
              <a:t>orders csv</a:t>
            </a:r>
            <a:r>
              <a:rPr lang="en-US" dirty="0"/>
              <a:t>, </a:t>
            </a:r>
            <a:r>
              <a:rPr lang="en-US" sz="1200" kern="1200" dirty="0" err="1">
                <a:solidFill>
                  <a:schemeClr val="tx1"/>
                </a:solidFill>
                <a:latin typeface="+mn-lt"/>
                <a:ea typeface="+mn-ea"/>
                <a:cs typeface="+mn-cs"/>
              </a:rPr>
              <a:t>orders_items</a:t>
            </a:r>
            <a:r>
              <a:rPr lang="en-US" sz="1200" kern="1200" dirty="0">
                <a:solidFill>
                  <a:schemeClr val="tx1"/>
                </a:solidFill>
                <a:latin typeface="+mn-lt"/>
                <a:ea typeface="+mn-ea"/>
                <a:cs typeface="+mn-cs"/>
              </a:rPr>
              <a:t> csv</a:t>
            </a:r>
            <a:r>
              <a:rPr lang="en-US" dirty="0"/>
              <a:t>, and </a:t>
            </a:r>
            <a:r>
              <a:rPr lang="en-US" sz="1200" kern="1200" dirty="0" err="1">
                <a:solidFill>
                  <a:schemeClr val="tx1"/>
                </a:solidFill>
                <a:latin typeface="+mn-lt"/>
                <a:ea typeface="+mn-ea"/>
                <a:cs typeface="+mn-cs"/>
              </a:rPr>
              <a:t>customer_info</a:t>
            </a:r>
            <a:r>
              <a:rPr lang="en-US" dirty="0"/>
              <a:t>.</a:t>
            </a:r>
          </a:p>
          <a:p>
            <a:r>
              <a:rPr lang="en-US" dirty="0"/>
              <a:t>The </a:t>
            </a:r>
            <a:r>
              <a:rPr lang="en-US" sz="1200" kern="1200" dirty="0">
                <a:solidFill>
                  <a:schemeClr val="tx1"/>
                </a:solidFill>
                <a:latin typeface="+mn-lt"/>
                <a:ea typeface="+mn-ea"/>
                <a:cs typeface="+mn-cs"/>
              </a:rPr>
              <a:t>orders csv</a:t>
            </a:r>
            <a:r>
              <a:rPr lang="en-US" dirty="0"/>
              <a:t> table was joined with </a:t>
            </a:r>
            <a:r>
              <a:rPr lang="en-US" sz="1200" kern="1200" dirty="0" err="1">
                <a:solidFill>
                  <a:schemeClr val="tx1"/>
                </a:solidFill>
                <a:latin typeface="+mn-lt"/>
                <a:ea typeface="+mn-ea"/>
                <a:cs typeface="+mn-cs"/>
              </a:rPr>
              <a:t>orders_items</a:t>
            </a:r>
            <a:r>
              <a:rPr lang="en-US" sz="1200" kern="1200" dirty="0">
                <a:solidFill>
                  <a:schemeClr val="tx1"/>
                </a:solidFill>
                <a:latin typeface="+mn-lt"/>
                <a:ea typeface="+mn-ea"/>
                <a:cs typeface="+mn-cs"/>
              </a:rPr>
              <a:t> csv</a:t>
            </a:r>
            <a:r>
              <a:rPr lang="en-US" dirty="0"/>
              <a:t> using </a:t>
            </a:r>
            <a:r>
              <a:rPr lang="en-US" sz="1200" kern="1200" dirty="0" err="1">
                <a:solidFill>
                  <a:schemeClr val="tx1"/>
                </a:solidFill>
                <a:latin typeface="+mn-lt"/>
                <a:ea typeface="+mn-ea"/>
                <a:cs typeface="+mn-cs"/>
              </a:rPr>
              <a:t>Order_Id</a:t>
            </a:r>
            <a:r>
              <a:rPr lang="en-US" dirty="0"/>
              <a:t> to retrieve order-level sales information. Then, the </a:t>
            </a:r>
            <a:r>
              <a:rPr lang="en-US" sz="1200" kern="1200" dirty="0" err="1">
                <a:solidFill>
                  <a:schemeClr val="tx1"/>
                </a:solidFill>
                <a:latin typeface="+mn-lt"/>
                <a:ea typeface="+mn-ea"/>
                <a:cs typeface="+mn-cs"/>
              </a:rPr>
              <a:t>customer_info</a:t>
            </a:r>
            <a:r>
              <a:rPr lang="en-US" dirty="0"/>
              <a:t> table was joined using </a:t>
            </a:r>
            <a:r>
              <a:rPr lang="en-US" sz="1200" kern="1200" dirty="0" err="1">
                <a:solidFill>
                  <a:schemeClr val="tx1"/>
                </a:solidFill>
                <a:latin typeface="+mn-lt"/>
                <a:ea typeface="+mn-ea"/>
                <a:cs typeface="+mn-cs"/>
              </a:rPr>
              <a:t>Customer_Id</a:t>
            </a:r>
            <a:r>
              <a:rPr lang="en-US" dirty="0"/>
              <a:t> to obtain customer details such as first name, city, and state. The query filtered only completed orders using the condition </a:t>
            </a:r>
            <a:r>
              <a:rPr lang="en-US" sz="1200" kern="1200" dirty="0" err="1">
                <a:solidFill>
                  <a:schemeClr val="tx1"/>
                </a:solidFill>
                <a:latin typeface="+mn-lt"/>
                <a:ea typeface="+mn-ea"/>
                <a:cs typeface="+mn-cs"/>
              </a:rPr>
              <a:t>Order_Status</a:t>
            </a:r>
            <a:r>
              <a:rPr lang="en-US" sz="1200" kern="1200" dirty="0">
                <a:solidFill>
                  <a:schemeClr val="tx1"/>
                </a:solidFill>
                <a:latin typeface="+mn-lt"/>
                <a:ea typeface="+mn-ea"/>
                <a:cs typeface="+mn-cs"/>
              </a:rPr>
              <a:t> = 'COMPLETE'</a:t>
            </a:r>
            <a:r>
              <a:rPr lang="en-US" dirty="0"/>
              <a:t>.</a:t>
            </a:r>
          </a:p>
          <a:p>
            <a:r>
              <a:rPr lang="en-US" dirty="0"/>
              <a:t>The records were grouped by customer information. </a:t>
            </a:r>
            <a:r>
              <a:rPr lang="en-US" sz="1200" kern="1200" dirty="0">
                <a:solidFill>
                  <a:schemeClr val="tx1"/>
                </a:solidFill>
                <a:latin typeface="+mn-lt"/>
                <a:ea typeface="+mn-ea"/>
                <a:cs typeface="+mn-cs"/>
              </a:rPr>
              <a:t>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a:t>
            </a:r>
            <a:r>
              <a:rPr lang="en-US" dirty="0"/>
              <a:t> was used to calculate the number of completed orders, while </a:t>
            </a:r>
            <a:r>
              <a:rPr lang="en-US" sz="1200" kern="1200" dirty="0">
                <a:solidFill>
                  <a:schemeClr val="tx1"/>
                </a:solidFill>
                <a:latin typeface="+mn-lt"/>
                <a:ea typeface="+mn-ea"/>
                <a:cs typeface="+mn-cs"/>
              </a:rPr>
              <a:t>SUM(Sales)</a:t>
            </a:r>
            <a:r>
              <a:rPr lang="en-US" dirty="0"/>
              <a:t> calculated the total sales generated by each customer. The results were sorted in descending order of completed orders, and </a:t>
            </a:r>
            <a:r>
              <a:rPr lang="en-US" sz="1200" kern="1200" dirty="0">
                <a:solidFill>
                  <a:schemeClr val="tx1"/>
                </a:solidFill>
                <a:latin typeface="+mn-lt"/>
                <a:ea typeface="+mn-ea"/>
                <a:cs typeface="+mn-cs"/>
              </a:rPr>
              <a:t>LIMIT 3</a:t>
            </a:r>
            <a:r>
              <a:rPr lang="en-US" dirty="0"/>
              <a:t> was applied to retain the top three customers. This question demonstrated multi-table joins, aggregation, filtering, and ranking techniques.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analyze order counts by shipping mode and department while considering only departments with at least 40 completed or closed orders. The query joined the </a:t>
            </a:r>
            <a:r>
              <a:rPr lang="en-US" sz="1200" kern="1200" dirty="0">
                <a:solidFill>
                  <a:schemeClr val="tx1"/>
                </a:solidFill>
                <a:latin typeface="+mn-lt"/>
                <a:ea typeface="+mn-ea"/>
                <a:cs typeface="+mn-cs"/>
              </a:rPr>
              <a:t>orders csv</a:t>
            </a:r>
            <a:r>
              <a:rPr lang="en-US" dirty="0"/>
              <a:t>, </a:t>
            </a:r>
            <a:r>
              <a:rPr lang="en-US" sz="1200" kern="1200" dirty="0" err="1">
                <a:solidFill>
                  <a:schemeClr val="tx1"/>
                </a:solidFill>
                <a:latin typeface="+mn-lt"/>
                <a:ea typeface="+mn-ea"/>
                <a:cs typeface="+mn-cs"/>
              </a:rPr>
              <a:t>orders_items</a:t>
            </a:r>
            <a:r>
              <a:rPr lang="en-US" sz="1200" kern="1200" dirty="0">
                <a:solidFill>
                  <a:schemeClr val="tx1"/>
                </a:solidFill>
                <a:latin typeface="+mn-lt"/>
                <a:ea typeface="+mn-ea"/>
                <a:cs typeface="+mn-cs"/>
              </a:rPr>
              <a:t> csv</a:t>
            </a:r>
            <a:r>
              <a:rPr lang="en-US" dirty="0"/>
              <a:t>, </a:t>
            </a:r>
            <a:r>
              <a:rPr lang="en-US" sz="1200" kern="1200" dirty="0" err="1">
                <a:solidFill>
                  <a:schemeClr val="tx1"/>
                </a:solidFill>
                <a:latin typeface="+mn-lt"/>
                <a:ea typeface="+mn-ea"/>
                <a:cs typeface="+mn-cs"/>
              </a:rPr>
              <a:t>product_info</a:t>
            </a:r>
            <a:r>
              <a:rPr lang="en-US" dirty="0"/>
              <a:t>, and </a:t>
            </a:r>
            <a:r>
              <a:rPr lang="en-US" sz="1200" kern="1200" dirty="0">
                <a:solidFill>
                  <a:schemeClr val="tx1"/>
                </a:solidFill>
                <a:latin typeface="+mn-lt"/>
                <a:ea typeface="+mn-ea"/>
                <a:cs typeface="+mn-cs"/>
              </a:rPr>
              <a:t>department</a:t>
            </a:r>
            <a:r>
              <a:rPr lang="en-US" dirty="0"/>
              <a:t> tables.</a:t>
            </a:r>
          </a:p>
          <a:p>
            <a:r>
              <a:rPr lang="en-US" dirty="0"/>
              <a:t>The joins connected orders to products through </a:t>
            </a:r>
            <a:r>
              <a:rPr lang="en-US" sz="1200" kern="1200" dirty="0" err="1">
                <a:solidFill>
                  <a:schemeClr val="tx1"/>
                </a:solidFill>
                <a:latin typeface="+mn-lt"/>
                <a:ea typeface="+mn-ea"/>
                <a:cs typeface="+mn-cs"/>
              </a:rPr>
              <a:t>Order_Id</a:t>
            </a:r>
            <a:r>
              <a:rPr lang="en-US" dirty="0"/>
              <a:t> and </a:t>
            </a:r>
            <a:r>
              <a:rPr lang="en-US" sz="1200" kern="1200" dirty="0" err="1">
                <a:solidFill>
                  <a:schemeClr val="tx1"/>
                </a:solidFill>
                <a:latin typeface="+mn-lt"/>
                <a:ea typeface="+mn-ea"/>
                <a:cs typeface="+mn-cs"/>
              </a:rPr>
              <a:t>Item_Id</a:t>
            </a:r>
            <a:r>
              <a:rPr lang="en-US" dirty="0"/>
              <a:t>, and departments were linked using </a:t>
            </a:r>
            <a:r>
              <a:rPr lang="en-US" sz="1200" kern="1200" dirty="0" err="1">
                <a:solidFill>
                  <a:schemeClr val="tx1"/>
                </a:solidFill>
                <a:latin typeface="+mn-lt"/>
                <a:ea typeface="+mn-ea"/>
                <a:cs typeface="+mn-cs"/>
              </a:rPr>
              <a:t>Department_Id</a:t>
            </a:r>
            <a:r>
              <a:rPr lang="en-US" dirty="0"/>
              <a:t>. The query filtered only valid order statuses using </a:t>
            </a:r>
            <a:r>
              <a:rPr lang="en-US" sz="1200" kern="1200" dirty="0" err="1">
                <a:solidFill>
                  <a:schemeClr val="tx1"/>
                </a:solidFill>
                <a:latin typeface="+mn-lt"/>
                <a:ea typeface="+mn-ea"/>
                <a:cs typeface="+mn-cs"/>
              </a:rPr>
              <a:t>Order_Status</a:t>
            </a:r>
            <a:r>
              <a:rPr lang="en-US" sz="1200" kern="1200" dirty="0">
                <a:solidFill>
                  <a:schemeClr val="tx1"/>
                </a:solidFill>
                <a:latin typeface="+mn-lt"/>
                <a:ea typeface="+mn-ea"/>
                <a:cs typeface="+mn-cs"/>
              </a:rPr>
              <a:t> IN ('COMPLETE', 'CLOSED')</a:t>
            </a:r>
            <a:r>
              <a:rPr lang="en-US" dirty="0"/>
              <a:t>. A Common Table Expression named </a:t>
            </a:r>
            <a:r>
              <a:rPr lang="en-US" sz="1200" kern="1200" dirty="0" err="1">
                <a:solidFill>
                  <a:schemeClr val="tx1"/>
                </a:solidFill>
                <a:latin typeface="+mn-lt"/>
                <a:ea typeface="+mn-ea"/>
                <a:cs typeface="+mn-cs"/>
              </a:rPr>
              <a:t>valid_departments</a:t>
            </a:r>
            <a:r>
              <a:rPr lang="en-US" dirty="0"/>
              <a:t> was created to identify departments having at least 40 valid orders using the </a:t>
            </a:r>
            <a:r>
              <a:rPr lang="en-US" sz="1200" kern="1200" dirty="0">
                <a:solidFill>
                  <a:schemeClr val="tx1"/>
                </a:solidFill>
                <a:latin typeface="+mn-lt"/>
                <a:ea typeface="+mn-ea"/>
                <a:cs typeface="+mn-cs"/>
              </a:rPr>
              <a:t>HAVING 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 &gt;= 40</a:t>
            </a:r>
            <a:r>
              <a:rPr lang="en-US" dirty="0"/>
              <a:t> condition.</a:t>
            </a:r>
          </a:p>
          <a:p>
            <a:r>
              <a:rPr lang="en-US" dirty="0"/>
              <a:t>The main query then grouped the filtered records by </a:t>
            </a:r>
            <a:r>
              <a:rPr lang="en-US" sz="1200" kern="1200" dirty="0" err="1">
                <a:solidFill>
                  <a:schemeClr val="tx1"/>
                </a:solidFill>
                <a:latin typeface="+mn-lt"/>
                <a:ea typeface="+mn-ea"/>
                <a:cs typeface="+mn-cs"/>
              </a:rPr>
              <a:t>Shipping_Mode</a:t>
            </a:r>
            <a:r>
              <a:rPr lang="en-US" dirty="0"/>
              <a:t> and </a:t>
            </a:r>
            <a:r>
              <a:rPr lang="en-US" sz="1200" kern="1200" dirty="0" err="1">
                <a:solidFill>
                  <a:schemeClr val="tx1"/>
                </a:solidFill>
                <a:latin typeface="+mn-lt"/>
                <a:ea typeface="+mn-ea"/>
                <a:cs typeface="+mn-cs"/>
              </a:rPr>
              <a:t>Department_Name</a:t>
            </a:r>
            <a:r>
              <a:rPr lang="en-US" dirty="0"/>
              <a:t>. </a:t>
            </a:r>
            <a:r>
              <a:rPr lang="en-US" sz="1200" kern="1200" dirty="0">
                <a:solidFill>
                  <a:schemeClr val="tx1"/>
                </a:solidFill>
                <a:latin typeface="+mn-lt"/>
                <a:ea typeface="+mn-ea"/>
                <a:cs typeface="+mn-cs"/>
              </a:rPr>
              <a:t>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a:t>
            </a:r>
            <a:r>
              <a:rPr lang="en-US" dirty="0"/>
              <a:t> calculated the number of orders for each combination. Finally, the results were sorted in descending order. This question demonstrated the use of joins, filtering, aggregation, CTEs, and HAVING clauses.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purpose of this question was to classify shipments based on delivery performance and determine which shipping mode experienced the highest number of delayed orders. The query used the </a:t>
            </a:r>
            <a:r>
              <a:rPr lang="en-US" sz="1200" kern="1200" dirty="0">
                <a:solidFill>
                  <a:schemeClr val="tx1"/>
                </a:solidFill>
                <a:latin typeface="+mn-lt"/>
                <a:ea typeface="+mn-ea"/>
                <a:cs typeface="+mn-cs"/>
              </a:rPr>
              <a:t>orders csv</a:t>
            </a:r>
            <a:r>
              <a:rPr lang="en-US" dirty="0"/>
              <a:t> table and created a new derived field called </a:t>
            </a:r>
            <a:r>
              <a:rPr lang="en-US" sz="1200" kern="1200" dirty="0" err="1">
                <a:solidFill>
                  <a:schemeClr val="tx1"/>
                </a:solidFill>
                <a:latin typeface="+mn-lt"/>
                <a:ea typeface="+mn-ea"/>
                <a:cs typeface="+mn-cs"/>
              </a:rPr>
              <a:t>shipment_compliance</a:t>
            </a:r>
            <a:r>
              <a:rPr lang="en-US" dirty="0"/>
              <a:t> using a </a:t>
            </a:r>
            <a:r>
              <a:rPr lang="en-US" sz="1200" kern="1200" dirty="0">
                <a:solidFill>
                  <a:schemeClr val="tx1"/>
                </a:solidFill>
                <a:latin typeface="+mn-lt"/>
                <a:ea typeface="+mn-ea"/>
                <a:cs typeface="+mn-cs"/>
              </a:rPr>
              <a:t>CASE</a:t>
            </a:r>
            <a:r>
              <a:rPr lang="en-US" dirty="0"/>
              <a:t> statement.</a:t>
            </a:r>
          </a:p>
          <a:p>
            <a:r>
              <a:rPr lang="en-US" dirty="0"/>
              <a:t>Different delivery conditions were evaluated using </a:t>
            </a:r>
            <a:r>
              <a:rPr lang="en-US" sz="1200" kern="1200" dirty="0" err="1">
                <a:solidFill>
                  <a:schemeClr val="tx1"/>
                </a:solidFill>
                <a:latin typeface="+mn-lt"/>
                <a:ea typeface="+mn-ea"/>
                <a:cs typeface="+mn-cs"/>
              </a:rPr>
              <a:t>Real_Shipping_Days</a:t>
            </a:r>
            <a:r>
              <a:rPr lang="en-US" dirty="0"/>
              <a:t> and </a:t>
            </a:r>
            <a:r>
              <a:rPr lang="en-US" sz="1200" kern="1200" dirty="0" err="1">
                <a:solidFill>
                  <a:schemeClr val="tx1"/>
                </a:solidFill>
                <a:latin typeface="+mn-lt"/>
                <a:ea typeface="+mn-ea"/>
                <a:cs typeface="+mn-cs"/>
              </a:rPr>
              <a:t>Scheduled_Shipping_Days</a:t>
            </a:r>
            <a:r>
              <a:rPr lang="en-US" dirty="0"/>
              <a:t>. Orders with statuses </a:t>
            </a:r>
            <a:r>
              <a:rPr lang="en-US" sz="1200" kern="1200" dirty="0">
                <a:solidFill>
                  <a:schemeClr val="tx1"/>
                </a:solidFill>
                <a:latin typeface="+mn-lt"/>
                <a:ea typeface="+mn-ea"/>
                <a:cs typeface="+mn-cs"/>
              </a:rPr>
              <a:t>SUSPECTED_FRAUD</a:t>
            </a:r>
            <a:r>
              <a:rPr lang="en-US" dirty="0"/>
              <a:t> or </a:t>
            </a:r>
            <a:r>
              <a:rPr lang="en-US" sz="1200" kern="1200" dirty="0">
                <a:solidFill>
                  <a:schemeClr val="tx1"/>
                </a:solidFill>
                <a:latin typeface="+mn-lt"/>
                <a:ea typeface="+mn-ea"/>
                <a:cs typeface="+mn-cs"/>
              </a:rPr>
              <a:t>CANCELED</a:t>
            </a:r>
            <a:r>
              <a:rPr lang="en-US" dirty="0"/>
              <a:t> were labeled as cancelled shipments. Orders delivered before schedule were labeled within schedule, while orders delivered exactly on schedule were labeled on time. Additional conditions categorized delays up to two days and delays beyond two days.</a:t>
            </a:r>
          </a:p>
          <a:p>
            <a:r>
              <a:rPr lang="en-US" dirty="0"/>
              <a:t>After creating the shipment compliance categories, the query filtered only delayed shipments. The records were grouped by </a:t>
            </a:r>
            <a:r>
              <a:rPr lang="en-US" sz="1200" kern="1200" dirty="0" err="1">
                <a:solidFill>
                  <a:schemeClr val="tx1"/>
                </a:solidFill>
                <a:latin typeface="+mn-lt"/>
                <a:ea typeface="+mn-ea"/>
                <a:cs typeface="+mn-cs"/>
              </a:rPr>
              <a:t>Shipping_Mode</a:t>
            </a:r>
            <a:r>
              <a:rPr lang="en-US" dirty="0"/>
              <a:t>, and </a:t>
            </a:r>
            <a:r>
              <a:rPr lang="en-US" sz="1200" kern="1200" dirty="0">
                <a:solidFill>
                  <a:schemeClr val="tx1"/>
                </a:solidFill>
                <a:latin typeface="+mn-lt"/>
                <a:ea typeface="+mn-ea"/>
                <a:cs typeface="+mn-cs"/>
              </a:rPr>
              <a:t>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a:t>
            </a:r>
            <a:r>
              <a:rPr lang="en-US" dirty="0"/>
              <a:t> calculated the number of delayed orders for each mode. The results were sorted in descending order, and the top shipping mode was retained. This question demonstrated the use of CASE statements, conditional logic, filtering, grouping, and aggregation.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objective of this question was to calculate the cancellation percentage for each state. An order was considered cancelled if the status was either </a:t>
            </a:r>
            <a:r>
              <a:rPr lang="en-US" sz="1200" kern="1200" dirty="0">
                <a:solidFill>
                  <a:schemeClr val="tx1"/>
                </a:solidFill>
                <a:latin typeface="+mn-lt"/>
                <a:ea typeface="+mn-ea"/>
                <a:cs typeface="+mn-cs"/>
              </a:rPr>
              <a:t>CANCELED</a:t>
            </a:r>
            <a:r>
              <a:rPr lang="en-US" dirty="0"/>
              <a:t> or </a:t>
            </a:r>
            <a:r>
              <a:rPr lang="en-US" sz="1200" kern="1200" dirty="0">
                <a:solidFill>
                  <a:schemeClr val="tx1"/>
                </a:solidFill>
                <a:latin typeface="+mn-lt"/>
                <a:ea typeface="+mn-ea"/>
                <a:cs typeface="+mn-cs"/>
              </a:rPr>
              <a:t>SUSPECTED_FRAUD</a:t>
            </a:r>
            <a:r>
              <a:rPr lang="en-US" dirty="0"/>
              <a:t>. The query used two Common Table Expressions named </a:t>
            </a:r>
            <a:r>
              <a:rPr lang="en-US" sz="1200" kern="1200" dirty="0" err="1">
                <a:solidFill>
                  <a:schemeClr val="tx1"/>
                </a:solidFill>
                <a:latin typeface="+mn-lt"/>
                <a:ea typeface="+mn-ea"/>
                <a:cs typeface="+mn-cs"/>
              </a:rPr>
              <a:t>cancelled_orders</a:t>
            </a:r>
            <a:r>
              <a:rPr lang="en-US" dirty="0"/>
              <a:t> and </a:t>
            </a:r>
            <a:r>
              <a:rPr lang="en-US" sz="1200" kern="1200" dirty="0" err="1">
                <a:solidFill>
                  <a:schemeClr val="tx1"/>
                </a:solidFill>
                <a:latin typeface="+mn-lt"/>
                <a:ea typeface="+mn-ea"/>
                <a:cs typeface="+mn-cs"/>
              </a:rPr>
              <a:t>total_orders</a:t>
            </a:r>
            <a:r>
              <a:rPr lang="en-US" dirty="0"/>
              <a:t>.</a:t>
            </a:r>
          </a:p>
          <a:p>
            <a:r>
              <a:rPr lang="en-US" dirty="0"/>
              <a:t>The first CTE filtered cancelled orders and counted them for each state using </a:t>
            </a:r>
            <a:r>
              <a:rPr lang="en-US" sz="1200" kern="1200" dirty="0">
                <a:solidFill>
                  <a:schemeClr val="tx1"/>
                </a:solidFill>
                <a:latin typeface="+mn-lt"/>
                <a:ea typeface="+mn-ea"/>
                <a:cs typeface="+mn-cs"/>
              </a:rPr>
              <a:t>COUNT(</a:t>
            </a:r>
            <a:r>
              <a:rPr lang="en-US" sz="1200" kern="1200" dirty="0" err="1">
                <a:solidFill>
                  <a:schemeClr val="tx1"/>
                </a:solidFill>
                <a:latin typeface="+mn-lt"/>
                <a:ea typeface="+mn-ea"/>
                <a:cs typeface="+mn-cs"/>
              </a:rPr>
              <a:t>Order_Id</a:t>
            </a:r>
            <a:r>
              <a:rPr lang="en-US" sz="1200" kern="1200" dirty="0">
                <a:solidFill>
                  <a:schemeClr val="tx1"/>
                </a:solidFill>
                <a:latin typeface="+mn-lt"/>
                <a:ea typeface="+mn-ea"/>
                <a:cs typeface="+mn-cs"/>
              </a:rPr>
              <a:t>)</a:t>
            </a:r>
            <a:r>
              <a:rPr lang="en-US" dirty="0"/>
              <a:t>. The second CTE calculated the total number of orders for each state without applying any filters. Both results were grouped using </a:t>
            </a:r>
            <a:r>
              <a:rPr lang="en-US" sz="1200" kern="1200" dirty="0">
                <a:solidFill>
                  <a:schemeClr val="tx1"/>
                </a:solidFill>
                <a:latin typeface="+mn-lt"/>
                <a:ea typeface="+mn-ea"/>
                <a:cs typeface="+mn-cs"/>
              </a:rPr>
              <a:t>GROUP BY </a:t>
            </a:r>
            <a:r>
              <a:rPr lang="en-US" sz="1200" kern="1200" dirty="0" err="1">
                <a:solidFill>
                  <a:schemeClr val="tx1"/>
                </a:solidFill>
                <a:latin typeface="+mn-lt"/>
                <a:ea typeface="+mn-ea"/>
                <a:cs typeface="+mn-cs"/>
              </a:rPr>
              <a:t>Order_State</a:t>
            </a:r>
            <a:r>
              <a:rPr lang="en-US" dirty="0"/>
              <a:t>.</a:t>
            </a:r>
          </a:p>
          <a:p>
            <a:r>
              <a:rPr lang="en-US" dirty="0"/>
              <a:t>The final query joined the two CTEs using </a:t>
            </a:r>
            <a:r>
              <a:rPr lang="en-US" sz="1200" kern="1200" dirty="0" err="1">
                <a:solidFill>
                  <a:schemeClr val="tx1"/>
                </a:solidFill>
                <a:latin typeface="+mn-lt"/>
                <a:ea typeface="+mn-ea"/>
                <a:cs typeface="+mn-cs"/>
              </a:rPr>
              <a:t>Order_State</a:t>
            </a:r>
            <a:r>
              <a:rPr lang="en-US" dirty="0"/>
              <a:t> and calculated cancellation percentage using the formula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cancelled_count</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total_count</a:t>
            </a:r>
            <a:r>
              <a:rPr lang="en-US" sz="1200" kern="1200" dirty="0">
                <a:solidFill>
                  <a:schemeClr val="tx1"/>
                </a:solidFill>
                <a:latin typeface="+mn-lt"/>
                <a:ea typeface="+mn-ea"/>
                <a:cs typeface="+mn-cs"/>
              </a:rPr>
              <a:t>) * 100</a:t>
            </a:r>
            <a:r>
              <a:rPr lang="en-US" dirty="0"/>
              <a:t>. The </a:t>
            </a:r>
            <a:r>
              <a:rPr lang="en-US" sz="1200" kern="1200" dirty="0">
                <a:solidFill>
                  <a:schemeClr val="tx1"/>
                </a:solidFill>
                <a:latin typeface="+mn-lt"/>
                <a:ea typeface="+mn-ea"/>
                <a:cs typeface="+mn-cs"/>
              </a:rPr>
              <a:t>ROUND()</a:t>
            </a:r>
            <a:r>
              <a:rPr lang="en-US" dirty="0"/>
              <a:t> function formatted the results to two decimal places. Finally, the results were sorted in descending order of cancellation percentage. This question demonstrated CTEs, aggregation, joins, filtering, calculations, and percentage analysis in SQL.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The Commodity dataset analysis helped identify pricing patterns, commodity variations, and regional price differences over time.</a:t>
            </a:r>
          </a:p>
          <a:p>
            <a:r>
              <a:rPr lang="en-US" dirty="0"/>
              <a:t>The Supply Chain dataset analysis provided insights into customer purchasing behavior, shipment delays, cancellation percentages, and departmental performance. Throughout the assignment, several important SQL concepts were applied, including joins, aggregation functions, Common Table Expressions, CASE statements, filtering, grouping, and percentage calculations.</a:t>
            </a:r>
          </a:p>
          <a:p>
            <a:r>
              <a:rPr lang="en-US" dirty="0"/>
              <a:t>ChatGPT provided guidance during the dataset loading process, including converting Excel sheets into CSV format, importing CSV files into MySQL Workbench, and structuring the database correctly. AI support also improved the efficiency of documentation, presentation preparation, and explanation of SQL concepts used in the analysis.</a:t>
            </a:r>
          </a:p>
        </p:txBody>
      </p:sp>
    </p:spTree>
    <p:extLst>
      <p:ext uri="{BB962C8B-B14F-4D97-AF65-F5344CB8AC3E}">
        <p14:creationId xmlns:p14="http://schemas.microsoft.com/office/powerpoint/2010/main" val="37284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4077757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2817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047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9376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0069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9930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7122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0062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0011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47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666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2741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7137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0528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8551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4449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7280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8455860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C4C7-84E5-FF3B-E123-60C2E332E064}"/>
              </a:ext>
            </a:extLst>
          </p:cNvPr>
          <p:cNvSpPr>
            <a:spLocks noGrp="1"/>
          </p:cNvSpPr>
          <p:nvPr>
            <p:ph type="ctrTitle"/>
          </p:nvPr>
        </p:nvSpPr>
        <p:spPr>
          <a:xfrm>
            <a:off x="2246063" y="334931"/>
            <a:ext cx="6680579" cy="3698542"/>
          </a:xfrm>
          <a:blipFill dpi="0" rotWithShape="1">
            <a:blip r:embed="rId3">
              <a:alphaModFix amt="28000"/>
            </a:blip>
            <a:srcRect/>
            <a:stretch>
              <a:fillRect/>
            </a:stretch>
          </a:blipFill>
          <a:effectLst>
            <a:glow>
              <a:schemeClr val="accent1"/>
            </a:glow>
            <a:outerShdw sx="1000" sy="1000" algn="ctr" rotWithShape="0">
              <a:srgbClr val="000000"/>
            </a:outerShdw>
          </a:effectLst>
        </p:spPr>
        <p:txBody>
          <a:bodyPr/>
          <a:lstStyle/>
          <a:p>
            <a:br>
              <a:rPr lang="en-US" dirty="0"/>
            </a:br>
            <a:endParaRPr lang="en-US" dirty="0"/>
          </a:p>
        </p:txBody>
      </p:sp>
      <p:sp>
        <p:nvSpPr>
          <p:cNvPr id="6" name="TextBox 5">
            <a:extLst>
              <a:ext uri="{FF2B5EF4-FFF2-40B4-BE49-F238E27FC236}">
                <a16:creationId xmlns:a16="http://schemas.microsoft.com/office/drawing/2014/main" id="{0AF8DBBA-3BD3-CDD6-E60C-D36108505504}"/>
              </a:ext>
            </a:extLst>
          </p:cNvPr>
          <p:cNvSpPr txBox="1"/>
          <p:nvPr/>
        </p:nvSpPr>
        <p:spPr>
          <a:xfrm>
            <a:off x="2998033" y="3634832"/>
            <a:ext cx="5711252" cy="2554545"/>
          </a:xfrm>
          <a:prstGeom prst="rect">
            <a:avLst/>
          </a:prstGeom>
          <a:noFill/>
        </p:spPr>
        <p:txBody>
          <a:bodyPr wrap="square">
            <a:spAutoFit/>
          </a:bodyPr>
          <a:lstStyle/>
          <a:p>
            <a:pPr algn="ctr">
              <a:buNone/>
            </a:pPr>
            <a:r>
              <a:rPr lang="en-US" sz="4000" b="1" dirty="0">
                <a:latin typeface="Times New Roman" panose="02020603050405020304" pitchFamily="18" charset="0"/>
                <a:cs typeface="Times New Roman" panose="02020603050405020304" pitchFamily="18" charset="0"/>
              </a:rPr>
              <a:t>SQL DATA ANALYSIS ON COMMODITY AND SUPPLY CHAIN DATASETS</a:t>
            </a:r>
          </a:p>
        </p:txBody>
      </p:sp>
    </p:spTree>
    <p:extLst>
      <p:ext uri="{BB962C8B-B14F-4D97-AF65-F5344CB8AC3E}">
        <p14:creationId xmlns:p14="http://schemas.microsoft.com/office/powerpoint/2010/main" val="3084593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D90F-F24A-A3F3-1FCD-C46A7F81655E}"/>
              </a:ext>
            </a:extLst>
          </p:cNvPr>
          <p:cNvSpPr>
            <a:spLocks noGrp="1"/>
          </p:cNvSpPr>
          <p:nvPr>
            <p:ph type="title"/>
          </p:nvPr>
        </p:nvSpPr>
        <p:spPr>
          <a:pattFill prst="pct25">
            <a:fgClr>
              <a:schemeClr val="accent1">
                <a:lumMod val="75000"/>
              </a:schemeClr>
            </a:fgClr>
            <a:bgClr>
              <a:schemeClr val="bg1"/>
            </a:bgClr>
          </a:pattFill>
        </p:spPr>
        <p:txBody>
          <a:bodyPr/>
          <a:lstStyle/>
          <a:p>
            <a:r>
              <a:rPr lang="en-US" dirty="0">
                <a:latin typeface="Times New Roman" panose="02020603050405020304" pitchFamily="18" charset="0"/>
                <a:cs typeface="Times New Roman" panose="02020603050405020304" pitchFamily="18" charset="0"/>
              </a:rPr>
              <a:t>Introduction to the SQL Data Analysis</a:t>
            </a:r>
          </a:p>
        </p:txBody>
      </p:sp>
      <p:sp>
        <p:nvSpPr>
          <p:cNvPr id="4" name="Rectangle 1">
            <a:extLst>
              <a:ext uri="{FF2B5EF4-FFF2-40B4-BE49-F238E27FC236}">
                <a16:creationId xmlns:a16="http://schemas.microsoft.com/office/drawing/2014/main" id="{C870C9A5-1586-1906-6ACD-0C8BDD1E2E7A}"/>
              </a:ext>
            </a:extLst>
          </p:cNvPr>
          <p:cNvSpPr>
            <a:spLocks noGrp="1" noChangeArrowheads="1"/>
          </p:cNvSpPr>
          <p:nvPr>
            <p:ph idx="1"/>
          </p:nvPr>
        </p:nvSpPr>
        <p:spPr bwMode="auto">
          <a:xfrm>
            <a:off x="1254036" y="2711440"/>
            <a:ext cx="4362994" cy="3416320"/>
          </a:xfrm>
          <a:prstGeom prst="rect">
            <a:avLst/>
          </a:prstGeom>
          <a:pattFill prst="pct5">
            <a:fgClr>
              <a:schemeClr val="accent1">
                <a:lumMod val="75000"/>
              </a:schemeClr>
            </a:fgClr>
            <a:bgClr>
              <a:schemeClr val="bg1"/>
            </a:bgClr>
          </a:patt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performed on Commodity and Supply Chain datasets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database used for querying and business analysis </a:t>
            </a:r>
            <a:endParaRPr lang="en-US" altLang="en-US" sz="1800" dirty="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SzTx/>
              <a:buFontTx/>
              <a:buChar char="•"/>
            </a:pPr>
            <a:r>
              <a:rPr lang="en-US" altLang="en-US" sz="1800" dirty="0">
                <a:latin typeface="Times New Roman" panose="02020603050405020304" pitchFamily="18" charset="0"/>
                <a:cs typeface="Times New Roman" panose="02020603050405020304" pitchFamily="18" charset="0"/>
              </a:rPr>
              <a:t>All Excel sheets were converted into CSV format </a:t>
            </a:r>
          </a:p>
          <a:p>
            <a:pPr marL="0" lvl="0" indent="0" defTabSz="914400" eaLnBrk="0" fontAlgn="base" hangingPunct="0">
              <a:spcBef>
                <a:spcPct val="0"/>
              </a:spcBef>
              <a:spcAft>
                <a:spcPct val="0"/>
              </a:spcAft>
              <a:buClrTx/>
              <a:buSzTx/>
              <a:buFontTx/>
              <a:buChar char="•"/>
            </a:pPr>
            <a:r>
              <a:rPr lang="en-US" altLang="en-US" sz="1800" dirty="0">
                <a:latin typeface="Times New Roman" panose="02020603050405020304" pitchFamily="18" charset="0"/>
                <a:cs typeface="Times New Roman" panose="02020603050405020304" pitchFamily="18" charset="0"/>
              </a:rPr>
              <a:t>CSV files were imported into MySQL Workbench </a:t>
            </a:r>
          </a:p>
          <a:p>
            <a:pPr marL="0" lvl="0" indent="0" defTabSz="914400" eaLnBrk="0" fontAlgn="base" hangingPunct="0">
              <a:spcBef>
                <a:spcPct val="0"/>
              </a:spcBef>
              <a:spcAft>
                <a:spcPct val="0"/>
              </a:spcAft>
              <a:buClrTx/>
              <a:buSzTx/>
              <a:buFontTx/>
              <a:buChar char="•"/>
            </a:pPr>
            <a:r>
              <a:rPr lang="en-US" altLang="en-US" sz="1800" dirty="0">
                <a:latin typeface="Times New Roman" panose="02020603050405020304" pitchFamily="18" charset="0"/>
                <a:cs typeface="Times New Roman" panose="02020603050405020304" pitchFamily="18" charset="0"/>
              </a:rPr>
              <a:t>A single database named </a:t>
            </a:r>
            <a:r>
              <a:rPr lang="en-US" altLang="en-US" sz="1800" dirty="0" err="1">
                <a:latin typeface="Times New Roman" panose="02020603050405020304" pitchFamily="18" charset="0"/>
                <a:cs typeface="Times New Roman" panose="02020603050405020304" pitchFamily="18" charset="0"/>
              </a:rPr>
              <a:t>commodities_supply</a:t>
            </a:r>
            <a:r>
              <a:rPr lang="en-US" altLang="en-US" sz="1800" dirty="0">
                <a:latin typeface="Times New Roman" panose="02020603050405020304" pitchFamily="18" charset="0"/>
                <a:cs typeface="Times New Roman" panose="02020603050405020304" pitchFamily="18" charset="0"/>
              </a:rPr>
              <a:t> was created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3EFC19A-C4E2-CFA9-81DD-56B3243A9541}"/>
              </a:ext>
            </a:extLst>
          </p:cNvPr>
          <p:cNvPicPr>
            <a:picLocks noChangeAspect="1"/>
          </p:cNvPicPr>
          <p:nvPr/>
        </p:nvPicPr>
        <p:blipFill>
          <a:blip r:embed="rId3"/>
          <a:stretch>
            <a:fillRect/>
          </a:stretch>
        </p:blipFill>
        <p:spPr>
          <a:xfrm>
            <a:off x="6610060" y="3266462"/>
            <a:ext cx="2076740" cy="2133898"/>
          </a:xfrm>
          <a:prstGeom prst="rect">
            <a:avLst/>
          </a:prstGeom>
        </p:spPr>
      </p:pic>
    </p:spTree>
    <p:extLst>
      <p:ext uri="{BB962C8B-B14F-4D97-AF65-F5344CB8AC3E}">
        <p14:creationId xmlns:p14="http://schemas.microsoft.com/office/powerpoint/2010/main" val="61761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attFill prst="dkUpDiag">
            <a:fgClr>
              <a:schemeClr val="accent1">
                <a:lumMod val="60000"/>
                <a:lumOff val="40000"/>
              </a:schemeClr>
            </a:fgClr>
            <a:bgClr>
              <a:schemeClr val="bg1"/>
            </a:bgClr>
          </a:pattFill>
        </p:spPr>
        <p:txBody>
          <a:bodyPr>
            <a:normAutofit/>
          </a:bodyPr>
          <a:lstStyle/>
          <a:p>
            <a:r>
              <a:rPr dirty="0">
                <a:latin typeface="Times New Roman" panose="02020603050405020304" pitchFamily="18" charset="0"/>
                <a:cs typeface="Times New Roman" panose="02020603050405020304" pitchFamily="18" charset="0"/>
              </a:rPr>
              <a:t>Commodity Q1: Common Top 10 Costliest Commodities</a:t>
            </a:r>
          </a:p>
        </p:txBody>
      </p:sp>
      <p:sp>
        <p:nvSpPr>
          <p:cNvPr id="3" name="Content Placeholder 2"/>
          <p:cNvSpPr>
            <a:spLocks noGrp="1"/>
          </p:cNvSpPr>
          <p:nvPr>
            <p:ph idx="1"/>
          </p:nvPr>
        </p:nvSpPr>
        <p:spPr>
          <a:xfrm>
            <a:off x="3942413" y="2667000"/>
            <a:ext cx="4744387" cy="3332816"/>
          </a:xfrm>
          <a:pattFill prst="pct10">
            <a:fgClr>
              <a:schemeClr val="accent1"/>
            </a:fgClr>
            <a:bgClr>
              <a:schemeClr val="bg1"/>
            </a:bgClr>
          </a:pattFill>
        </p:spPr>
        <p:txBody>
          <a:bodyPr>
            <a:normAutofit lnSpcReduction="10000"/>
          </a:bodyPr>
          <a:lstStyle/>
          <a:p>
            <a:r>
              <a:rPr dirty="0">
                <a:latin typeface="Times New Roman" panose="02020603050405020304" pitchFamily="18" charset="0"/>
                <a:cs typeface="Times New Roman" panose="02020603050405020304" pitchFamily="18" charset="0"/>
              </a:rPr>
              <a:t>Used CTEs to separate 2019 and 2020 analysis</a:t>
            </a:r>
          </a:p>
          <a:p>
            <a:r>
              <a:rPr dirty="0">
                <a:latin typeface="Times New Roman" panose="02020603050405020304" pitchFamily="18" charset="0"/>
                <a:cs typeface="Times New Roman" panose="02020603050405020304" pitchFamily="18" charset="0"/>
              </a:rPr>
              <a:t>Calculated average retail price for each commodity</a:t>
            </a:r>
          </a:p>
          <a:p>
            <a:r>
              <a:rPr dirty="0">
                <a:latin typeface="Times New Roman" panose="02020603050405020304" pitchFamily="18" charset="0"/>
                <a:cs typeface="Times New Roman" panose="02020603050405020304" pitchFamily="18" charset="0"/>
              </a:rPr>
              <a:t>Selected Top 10 highest priced commodities per year</a:t>
            </a:r>
          </a:p>
          <a:p>
            <a:r>
              <a:rPr dirty="0">
                <a:latin typeface="Times New Roman" panose="02020603050405020304" pitchFamily="18" charset="0"/>
                <a:cs typeface="Times New Roman" panose="02020603050405020304" pitchFamily="18" charset="0"/>
              </a:rPr>
              <a:t>Applied INNER JOIN to find common commodities</a:t>
            </a:r>
          </a:p>
        </p:txBody>
      </p:sp>
      <p:pic>
        <p:nvPicPr>
          <p:cNvPr id="5" name="Picture 4">
            <a:extLst>
              <a:ext uri="{FF2B5EF4-FFF2-40B4-BE49-F238E27FC236}">
                <a16:creationId xmlns:a16="http://schemas.microsoft.com/office/drawing/2014/main" id="{83DBBF71-D6F5-AB4D-95CC-946860ACC7F9}"/>
              </a:ext>
            </a:extLst>
          </p:cNvPr>
          <p:cNvPicPr>
            <a:picLocks noChangeAspect="1"/>
          </p:cNvPicPr>
          <p:nvPr/>
        </p:nvPicPr>
        <p:blipFill>
          <a:blip r:embed="rId3"/>
          <a:stretch>
            <a:fillRect/>
          </a:stretch>
        </p:blipFill>
        <p:spPr>
          <a:xfrm>
            <a:off x="1627113" y="2655386"/>
            <a:ext cx="1775656" cy="3745413"/>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71599"/>
          </a:xfrm>
          <a:gradFill>
            <a:gsLst>
              <a:gs pos="41000">
                <a:schemeClr val="accent1">
                  <a:lumMod val="20000"/>
                  <a:lumOff val="80000"/>
                </a:schemeClr>
              </a:gs>
              <a:gs pos="100000">
                <a:schemeClr val="accent1">
                  <a:tint val="84000"/>
                </a:schemeClr>
              </a:gs>
            </a:gsLst>
            <a:lin ang="5400000" scaled="0"/>
          </a:gradFill>
        </p:spPr>
        <p:txBody>
          <a:bodyPr>
            <a:normAutofit/>
          </a:bodyPr>
          <a:lstStyle/>
          <a:p>
            <a:r>
              <a:rPr dirty="0">
                <a:latin typeface="Times New Roman" panose="02020603050405020304" pitchFamily="18" charset="0"/>
                <a:cs typeface="Times New Roman" panose="02020603050405020304" pitchFamily="18" charset="0"/>
              </a:rPr>
              <a:t>Commodity Q2: Maximum Price Difference in June 2020</a:t>
            </a:r>
          </a:p>
        </p:txBody>
      </p:sp>
      <p:sp>
        <p:nvSpPr>
          <p:cNvPr id="3" name="Content Placeholder 2"/>
          <p:cNvSpPr>
            <a:spLocks noGrp="1"/>
          </p:cNvSpPr>
          <p:nvPr>
            <p:ph idx="1"/>
          </p:nvPr>
        </p:nvSpPr>
        <p:spPr>
          <a:xfrm>
            <a:off x="4572000" y="2065210"/>
            <a:ext cx="4114800" cy="380252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r>
              <a:rPr dirty="0">
                <a:latin typeface="Times New Roman" panose="02020603050405020304" pitchFamily="18" charset="0"/>
                <a:cs typeface="Times New Roman" panose="02020603050405020304" pitchFamily="18" charset="0"/>
              </a:rPr>
              <a:t>Filtered records for June 2020 using YEAR and MONTH</a:t>
            </a:r>
          </a:p>
          <a:p>
            <a:r>
              <a:rPr dirty="0">
                <a:latin typeface="Times New Roman" panose="02020603050405020304" pitchFamily="18" charset="0"/>
                <a:cs typeface="Times New Roman" panose="02020603050405020304" pitchFamily="18" charset="0"/>
              </a:rPr>
              <a:t>Grouped data by commodity</a:t>
            </a:r>
          </a:p>
          <a:p>
            <a:r>
              <a:rPr dirty="0">
                <a:latin typeface="Times New Roman" panose="02020603050405020304" pitchFamily="18" charset="0"/>
                <a:cs typeface="Times New Roman" panose="02020603050405020304" pitchFamily="18" charset="0"/>
              </a:rPr>
              <a:t>Calculated MAX and MIN retail prices</a:t>
            </a:r>
          </a:p>
          <a:p>
            <a:r>
              <a:rPr dirty="0">
                <a:latin typeface="Times New Roman" panose="02020603050405020304" pitchFamily="18" charset="0"/>
                <a:cs typeface="Times New Roman" panose="02020603050405020304" pitchFamily="18" charset="0"/>
              </a:rPr>
              <a:t>Computed highest regional price difference</a:t>
            </a:r>
          </a:p>
        </p:txBody>
      </p:sp>
      <p:pic>
        <p:nvPicPr>
          <p:cNvPr id="5" name="Picture 4">
            <a:extLst>
              <a:ext uri="{FF2B5EF4-FFF2-40B4-BE49-F238E27FC236}">
                <a16:creationId xmlns:a16="http://schemas.microsoft.com/office/drawing/2014/main" id="{6C2676A4-E19D-9552-942B-14AFD8A90B73}"/>
              </a:ext>
            </a:extLst>
          </p:cNvPr>
          <p:cNvPicPr>
            <a:picLocks noChangeAspect="1"/>
          </p:cNvPicPr>
          <p:nvPr/>
        </p:nvPicPr>
        <p:blipFill>
          <a:blip r:embed="rId3"/>
          <a:stretch>
            <a:fillRect/>
          </a:stretch>
        </p:blipFill>
        <p:spPr>
          <a:xfrm>
            <a:off x="769633" y="2688205"/>
            <a:ext cx="3548367" cy="2251699"/>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426190"/>
          </a:xfrm>
          <a:pattFill prst="pct40">
            <a:fgClr>
              <a:schemeClr val="accent1">
                <a:lumMod val="60000"/>
                <a:lumOff val="40000"/>
              </a:schemeClr>
            </a:fgClr>
            <a:bgClr>
              <a:schemeClr val="bg1"/>
            </a:bgClr>
          </a:pattFill>
        </p:spPr>
        <p:txBody>
          <a:bodyPr>
            <a:normAutofit/>
          </a:bodyPr>
          <a:lstStyle/>
          <a:p>
            <a:r>
              <a:rPr>
                <a:latin typeface="Times New Roman" panose="02020603050405020304" pitchFamily="18" charset="0"/>
                <a:cs typeface="Times New Roman" panose="02020603050405020304" pitchFamily="18" charset="0"/>
              </a:rPr>
              <a:t>Commodity Q3: Commodity Varieties Ranking</a:t>
            </a:r>
          </a:p>
        </p:txBody>
      </p:sp>
      <p:sp>
        <p:nvSpPr>
          <p:cNvPr id="4" name="Rectangle: Top Corners One Rounded and One Snipped 3">
            <a:extLst>
              <a:ext uri="{FF2B5EF4-FFF2-40B4-BE49-F238E27FC236}">
                <a16:creationId xmlns:a16="http://schemas.microsoft.com/office/drawing/2014/main" id="{1F304186-3DCD-FCDA-3756-0992D80A38CF}"/>
              </a:ext>
            </a:extLst>
          </p:cNvPr>
          <p:cNvSpPr/>
          <p:nvPr/>
        </p:nvSpPr>
        <p:spPr>
          <a:xfrm>
            <a:off x="4145280" y="2063647"/>
            <a:ext cx="4541519" cy="3648500"/>
          </a:xfrm>
          <a:prstGeom prst="snipRoundRect">
            <a:avLst/>
          </a:prstGeom>
          <a:gradFill>
            <a:gsLst>
              <a:gs pos="0">
                <a:schemeClr val="accent1">
                  <a:lumMod val="20000"/>
                  <a:lumOff val="80000"/>
                </a:schemeClr>
              </a:gs>
              <a:gs pos="100000">
                <a:schemeClr val="accent6">
                  <a:tint val="84000"/>
                  <a:alpha val="12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Grouped data using commodity names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Counted distinct varieties using COUNT(DISTINCT)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Sorted commodities by variety count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Retrieved the 3rd highest ranked commodity</a:t>
            </a:r>
          </a:p>
        </p:txBody>
      </p:sp>
      <p:pic>
        <p:nvPicPr>
          <p:cNvPr id="5" name="Picture 4">
            <a:extLst>
              <a:ext uri="{FF2B5EF4-FFF2-40B4-BE49-F238E27FC236}">
                <a16:creationId xmlns:a16="http://schemas.microsoft.com/office/drawing/2014/main" id="{85AA606A-2014-FFA8-74F6-811EF640F097}"/>
              </a:ext>
            </a:extLst>
          </p:cNvPr>
          <p:cNvPicPr>
            <a:picLocks noChangeAspect="1"/>
          </p:cNvPicPr>
          <p:nvPr/>
        </p:nvPicPr>
        <p:blipFill>
          <a:blip r:embed="rId3"/>
          <a:stretch>
            <a:fillRect/>
          </a:stretch>
        </p:blipFill>
        <p:spPr>
          <a:xfrm>
            <a:off x="646140" y="3025641"/>
            <a:ext cx="3293828" cy="152604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808479"/>
          </a:xfrm>
          <a:pattFill prst="trellis">
            <a:fgClr>
              <a:schemeClr val="accent1">
                <a:lumMod val="60000"/>
                <a:lumOff val="40000"/>
              </a:schemeClr>
            </a:fgClr>
            <a:bgClr>
              <a:schemeClr val="bg1"/>
            </a:bgClr>
          </a:pattFill>
        </p:spPr>
        <p:txBody>
          <a:bodyPr>
            <a:normAutofit fontScale="90000"/>
          </a:bodyPr>
          <a:lstStyle/>
          <a:p>
            <a:r>
              <a:rPr dirty="0">
                <a:latin typeface="Times New Roman" panose="02020603050405020304" pitchFamily="18" charset="0"/>
                <a:cs typeface="Times New Roman" panose="02020603050405020304" pitchFamily="18" charset="0"/>
              </a:rPr>
              <a:t>Commodity Q4: Commodity with Highest Records in Least Active State</a:t>
            </a:r>
          </a:p>
        </p:txBody>
      </p:sp>
      <p:sp>
        <p:nvSpPr>
          <p:cNvPr id="3" name="Content Placeholder 2"/>
          <p:cNvSpPr>
            <a:spLocks noGrp="1"/>
          </p:cNvSpPr>
          <p:nvPr>
            <p:ph idx="1"/>
          </p:nvPr>
        </p:nvSpPr>
        <p:spPr>
          <a:xfrm>
            <a:off x="982133" y="2667000"/>
            <a:ext cx="4189307" cy="3053080"/>
          </a:xfrm>
          <a:pattFill prst="ltDnDiag">
            <a:fgClr>
              <a:schemeClr val="accent1"/>
            </a:fgClr>
            <a:bgClr>
              <a:schemeClr val="bg1"/>
            </a:bgClr>
          </a:pattFill>
        </p:spPr>
        <p:txBody>
          <a:bodyPr>
            <a:normAutofit lnSpcReduction="10000"/>
          </a:bodyPr>
          <a:lstStyle/>
          <a:p>
            <a:r>
              <a:rPr dirty="0">
                <a:latin typeface="Times New Roman" panose="02020603050405020304" pitchFamily="18" charset="0"/>
                <a:cs typeface="Times New Roman" panose="02020603050405020304" pitchFamily="18" charset="0"/>
              </a:rPr>
              <a:t>Joined region and price tables</a:t>
            </a:r>
          </a:p>
          <a:p>
            <a:r>
              <a:rPr dirty="0">
                <a:latin typeface="Times New Roman" panose="02020603050405020304" pitchFamily="18" charset="0"/>
                <a:cs typeface="Times New Roman" panose="02020603050405020304" pitchFamily="18" charset="0"/>
              </a:rPr>
              <a:t>Identified state with minimum data records</a:t>
            </a:r>
          </a:p>
          <a:p>
            <a:r>
              <a:rPr dirty="0">
                <a:latin typeface="Times New Roman" panose="02020603050405020304" pitchFamily="18" charset="0"/>
                <a:cs typeface="Times New Roman" panose="02020603050405020304" pitchFamily="18" charset="0"/>
              </a:rPr>
              <a:t>Filtered commodity records within that state</a:t>
            </a:r>
          </a:p>
          <a:p>
            <a:r>
              <a:rPr dirty="0">
                <a:latin typeface="Times New Roman" panose="02020603050405020304" pitchFamily="18" charset="0"/>
                <a:cs typeface="Times New Roman" panose="02020603050405020304" pitchFamily="18" charset="0"/>
              </a:rPr>
              <a:t>Selected commodity with highest occurrences</a:t>
            </a:r>
          </a:p>
        </p:txBody>
      </p:sp>
      <p:pic>
        <p:nvPicPr>
          <p:cNvPr id="5" name="Picture 4">
            <a:extLst>
              <a:ext uri="{FF2B5EF4-FFF2-40B4-BE49-F238E27FC236}">
                <a16:creationId xmlns:a16="http://schemas.microsoft.com/office/drawing/2014/main" id="{FA0B0E5F-718B-4D5D-4683-780742E55A72}"/>
              </a:ext>
            </a:extLst>
          </p:cNvPr>
          <p:cNvPicPr>
            <a:picLocks noChangeAspect="1"/>
          </p:cNvPicPr>
          <p:nvPr/>
        </p:nvPicPr>
        <p:blipFill>
          <a:blip r:embed="rId3"/>
          <a:stretch>
            <a:fillRect/>
          </a:stretch>
        </p:blipFill>
        <p:spPr>
          <a:xfrm>
            <a:off x="6271454" y="2442926"/>
            <a:ext cx="1762371" cy="404384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440872"/>
          </a:xfrm>
          <a:pattFill prst="pct25">
            <a:fgClr>
              <a:schemeClr val="accent1">
                <a:lumMod val="60000"/>
                <a:lumOff val="40000"/>
              </a:schemeClr>
            </a:fgClr>
            <a:bgClr>
              <a:schemeClr val="bg1"/>
            </a:bgClr>
          </a:pattFill>
        </p:spPr>
        <p:txBody>
          <a:bodyPr>
            <a:normAutofit/>
          </a:bodyPr>
          <a:lstStyle/>
          <a:p>
            <a:r>
              <a:rPr dirty="0">
                <a:latin typeface="Times New Roman" panose="02020603050405020304" pitchFamily="18" charset="0"/>
                <a:cs typeface="Times New Roman" panose="02020603050405020304" pitchFamily="18" charset="0"/>
              </a:rPr>
              <a:t>Commodity Q5: Highest Price Variation Between 2019 and 2020</a:t>
            </a:r>
          </a:p>
        </p:txBody>
      </p:sp>
      <p:sp>
        <p:nvSpPr>
          <p:cNvPr id="3" name="Content Placeholder 2"/>
          <p:cNvSpPr>
            <a:spLocks noGrp="1"/>
          </p:cNvSpPr>
          <p:nvPr>
            <p:ph idx="1"/>
          </p:nvPr>
        </p:nvSpPr>
        <p:spPr>
          <a:xfrm>
            <a:off x="760460" y="2316953"/>
            <a:ext cx="3811540" cy="3332816"/>
          </a:xfrm>
          <a:pattFill prst="pct40">
            <a:fgClr>
              <a:schemeClr val="accent1"/>
            </a:fgClr>
            <a:bgClr>
              <a:schemeClr val="bg1"/>
            </a:bgClr>
          </a:pattFill>
        </p:spPr>
        <p:txBody>
          <a:bodyPr>
            <a:normAutofit lnSpcReduction="10000"/>
          </a:bodyPr>
          <a:lstStyle/>
          <a:p>
            <a:r>
              <a:rPr dirty="0">
                <a:latin typeface="Times New Roman" panose="02020603050405020304" pitchFamily="18" charset="0"/>
                <a:cs typeface="Times New Roman" panose="02020603050405020304" pitchFamily="18" charset="0"/>
              </a:rPr>
              <a:t>Separated Jan 2019 and Dec 2020 records</a:t>
            </a:r>
          </a:p>
          <a:p>
            <a:r>
              <a:rPr dirty="0">
                <a:latin typeface="Times New Roman" panose="02020603050405020304" pitchFamily="18" charset="0"/>
                <a:cs typeface="Times New Roman" panose="02020603050405020304" pitchFamily="18" charset="0"/>
              </a:rPr>
              <a:t>Joined records by region and commodity</a:t>
            </a:r>
          </a:p>
          <a:p>
            <a:r>
              <a:rPr dirty="0">
                <a:latin typeface="Times New Roman" panose="02020603050405020304" pitchFamily="18" charset="0"/>
                <a:cs typeface="Times New Roman" panose="02020603050405020304" pitchFamily="18" charset="0"/>
              </a:rPr>
              <a:t>Calculated absolute and percentage variation</a:t>
            </a:r>
          </a:p>
          <a:p>
            <a:r>
              <a:rPr dirty="0">
                <a:latin typeface="Times New Roman" panose="02020603050405020304" pitchFamily="18" charset="0"/>
                <a:cs typeface="Times New Roman" panose="02020603050405020304" pitchFamily="18" charset="0"/>
              </a:rPr>
              <a:t>Sorted to identify highest price increase</a:t>
            </a:r>
          </a:p>
        </p:txBody>
      </p:sp>
      <p:pic>
        <p:nvPicPr>
          <p:cNvPr id="5" name="Picture 4">
            <a:extLst>
              <a:ext uri="{FF2B5EF4-FFF2-40B4-BE49-F238E27FC236}">
                <a16:creationId xmlns:a16="http://schemas.microsoft.com/office/drawing/2014/main" id="{5F78E7C1-E853-A669-BAC2-964B90FE6507}"/>
              </a:ext>
            </a:extLst>
          </p:cNvPr>
          <p:cNvPicPr>
            <a:picLocks noChangeAspect="1"/>
          </p:cNvPicPr>
          <p:nvPr/>
        </p:nvPicPr>
        <p:blipFill>
          <a:blip r:embed="rId3"/>
          <a:stretch>
            <a:fillRect/>
          </a:stretch>
        </p:blipFill>
        <p:spPr>
          <a:xfrm>
            <a:off x="4738412" y="2606675"/>
            <a:ext cx="2439939" cy="2982769"/>
          </a:xfrm>
          <a:prstGeom prst="rect">
            <a:avLst/>
          </a:prstGeom>
        </p:spPr>
        <p:style>
          <a:lnRef idx="2">
            <a:schemeClr val="accent1"/>
          </a:lnRef>
          <a:fillRef idx="1">
            <a:schemeClr val="lt1"/>
          </a:fillRef>
          <a:effectRef idx="0">
            <a:schemeClr val="accent1"/>
          </a:effectRef>
          <a:fontRef idx="minor">
            <a:schemeClr val="dk1"/>
          </a:fontRef>
        </p:style>
      </p:pic>
      <p:pic>
        <p:nvPicPr>
          <p:cNvPr id="7" name="Picture 6">
            <a:extLst>
              <a:ext uri="{FF2B5EF4-FFF2-40B4-BE49-F238E27FC236}">
                <a16:creationId xmlns:a16="http://schemas.microsoft.com/office/drawing/2014/main" id="{91575567-0CEC-8821-1A88-5E721C1B0561}"/>
              </a:ext>
            </a:extLst>
          </p:cNvPr>
          <p:cNvPicPr>
            <a:picLocks noChangeAspect="1"/>
          </p:cNvPicPr>
          <p:nvPr/>
        </p:nvPicPr>
        <p:blipFill>
          <a:blip r:embed="rId4"/>
          <a:stretch>
            <a:fillRect/>
          </a:stretch>
        </p:blipFill>
        <p:spPr>
          <a:xfrm>
            <a:off x="7455599" y="2606675"/>
            <a:ext cx="1398996" cy="3043094"/>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413163"/>
          </a:xfrm>
          <a:gradFill>
            <a:gsLst>
              <a:gs pos="0">
                <a:schemeClr val="accent1">
                  <a:lumMod val="20000"/>
                  <a:lumOff val="80000"/>
                </a:schemeClr>
              </a:gs>
              <a:gs pos="100000">
                <a:schemeClr val="accent6">
                  <a:tint val="84000"/>
                  <a:alpha val="12000"/>
                </a:schemeClr>
              </a:gs>
            </a:gsLst>
            <a:lin ang="5400000" scaled="0"/>
          </a:gradFill>
        </p:spPr>
        <p:txBody>
          <a:bodyPr>
            <a:normAutofit/>
          </a:bodyPr>
          <a:lstStyle/>
          <a:p>
            <a:r>
              <a:rPr dirty="0">
                <a:latin typeface="Times New Roman" panose="02020603050405020304" pitchFamily="18" charset="0"/>
                <a:cs typeface="Times New Roman" panose="02020603050405020304" pitchFamily="18" charset="0"/>
              </a:rPr>
              <a:t>Supply Chain Q1: Orders by Transaction Type</a:t>
            </a:r>
          </a:p>
        </p:txBody>
      </p:sp>
      <p:sp>
        <p:nvSpPr>
          <p:cNvPr id="3" name="Content Placeholder 2"/>
          <p:cNvSpPr>
            <a:spLocks noGrp="1"/>
          </p:cNvSpPr>
          <p:nvPr>
            <p:ph idx="1"/>
          </p:nvPr>
        </p:nvSpPr>
        <p:spPr>
          <a:xfrm>
            <a:off x="1169339" y="2189018"/>
            <a:ext cx="3610479" cy="3713018"/>
          </a:xfrm>
          <a:pattFill prst="pct10">
            <a:fgClr>
              <a:schemeClr val="accent1"/>
            </a:fgClr>
            <a:bgClr>
              <a:schemeClr val="bg1"/>
            </a:bgClr>
          </a:pattFill>
        </p:spPr>
        <p:txBody>
          <a:bodyPr>
            <a:normAutofit lnSpcReduction="10000"/>
          </a:bodyPr>
          <a:lstStyle/>
          <a:p>
            <a:r>
              <a:rPr dirty="0">
                <a:latin typeface="Times New Roman" panose="02020603050405020304" pitchFamily="18" charset="0"/>
                <a:cs typeface="Times New Roman" panose="02020603050405020304" pitchFamily="18" charset="0"/>
              </a:rPr>
              <a:t>Filtered out </a:t>
            </a:r>
            <a:r>
              <a:rPr dirty="0" err="1">
                <a:latin typeface="Times New Roman" panose="02020603050405020304" pitchFamily="18" charset="0"/>
                <a:cs typeface="Times New Roman" panose="02020603050405020304" pitchFamily="18" charset="0"/>
              </a:rPr>
              <a:t>Sangli</a:t>
            </a:r>
            <a:r>
              <a:rPr dirty="0">
                <a:latin typeface="Times New Roman" panose="02020603050405020304" pitchFamily="18" charset="0"/>
                <a:cs typeface="Times New Roman" panose="02020603050405020304" pitchFamily="18" charset="0"/>
              </a:rPr>
              <a:t> and Srinagar orders</a:t>
            </a:r>
          </a:p>
          <a:p>
            <a:r>
              <a:rPr dirty="0">
                <a:latin typeface="Times New Roman" panose="02020603050405020304" pitchFamily="18" charset="0"/>
                <a:cs typeface="Times New Roman" panose="02020603050405020304" pitchFamily="18" charset="0"/>
              </a:rPr>
              <a:t>Excluded SUSPECTED_FRAUD cases</a:t>
            </a:r>
          </a:p>
          <a:p>
            <a:r>
              <a:rPr dirty="0">
                <a:latin typeface="Times New Roman" panose="02020603050405020304" pitchFamily="18" charset="0"/>
                <a:cs typeface="Times New Roman" panose="02020603050405020304" pitchFamily="18" charset="0"/>
              </a:rPr>
              <a:t>Grouped orders by transaction type</a:t>
            </a:r>
          </a:p>
          <a:p>
            <a:r>
              <a:rPr dirty="0">
                <a:latin typeface="Times New Roman" panose="02020603050405020304" pitchFamily="18" charset="0"/>
                <a:cs typeface="Times New Roman" panose="02020603050405020304" pitchFamily="18" charset="0"/>
              </a:rPr>
              <a:t>Sorted order counts in descending order</a:t>
            </a:r>
          </a:p>
        </p:txBody>
      </p:sp>
      <p:pic>
        <p:nvPicPr>
          <p:cNvPr id="5" name="Picture 4">
            <a:extLst>
              <a:ext uri="{FF2B5EF4-FFF2-40B4-BE49-F238E27FC236}">
                <a16:creationId xmlns:a16="http://schemas.microsoft.com/office/drawing/2014/main" id="{4EBADED8-E4F0-F862-E245-61E8473B571C}"/>
              </a:ext>
            </a:extLst>
          </p:cNvPr>
          <p:cNvPicPr>
            <a:picLocks noChangeAspect="1"/>
          </p:cNvPicPr>
          <p:nvPr/>
        </p:nvPicPr>
        <p:blipFill>
          <a:blip r:embed="rId3"/>
          <a:stretch>
            <a:fillRect/>
          </a:stretch>
        </p:blipFill>
        <p:spPr>
          <a:xfrm>
            <a:off x="5195454" y="2942585"/>
            <a:ext cx="3610479" cy="2476846"/>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attFill prst="pct40">
            <a:fgClr>
              <a:schemeClr val="accent1">
                <a:lumMod val="75000"/>
              </a:schemeClr>
            </a:fgClr>
            <a:bgClr>
              <a:schemeClr val="bg1"/>
            </a:bgClr>
          </a:pattFill>
        </p:spPr>
        <p:txBody>
          <a:bodyPr>
            <a:normAutofit/>
          </a:bodyPr>
          <a:lstStyle/>
          <a:p>
            <a:r>
              <a:rPr dirty="0">
                <a:latin typeface="Times New Roman" panose="02020603050405020304" pitchFamily="18" charset="0"/>
                <a:cs typeface="Times New Roman" panose="02020603050405020304" pitchFamily="18" charset="0"/>
              </a:rPr>
              <a:t>Supply Chain Q2: Top 3 Customers by Completed Orders</a:t>
            </a:r>
          </a:p>
        </p:txBody>
      </p:sp>
      <p:sp>
        <p:nvSpPr>
          <p:cNvPr id="3" name="Content Placeholder 2"/>
          <p:cNvSpPr>
            <a:spLocks noGrp="1"/>
          </p:cNvSpPr>
          <p:nvPr>
            <p:ph idx="1"/>
          </p:nvPr>
        </p:nvSpPr>
        <p:spPr>
          <a:xfrm>
            <a:off x="4738255" y="2667000"/>
            <a:ext cx="3948545" cy="3332816"/>
          </a:xfrm>
          <a:pattFill prst="divot">
            <a:fgClr>
              <a:schemeClr val="accent1">
                <a:lumMod val="40000"/>
                <a:lumOff val="60000"/>
              </a:schemeClr>
            </a:fgClr>
            <a:bgClr>
              <a:schemeClr val="bg1"/>
            </a:bgClr>
          </a:pattFill>
        </p:spPr>
        <p:txBody>
          <a:bodyPr/>
          <a:lstStyle/>
          <a:p>
            <a:r>
              <a:rPr dirty="0">
                <a:latin typeface="Times New Roman" panose="02020603050405020304" pitchFamily="18" charset="0"/>
                <a:cs typeface="Times New Roman" panose="02020603050405020304" pitchFamily="18" charset="0"/>
              </a:rPr>
              <a:t>Joined orders, items, and customer tables</a:t>
            </a:r>
          </a:p>
          <a:p>
            <a:r>
              <a:rPr dirty="0">
                <a:latin typeface="Times New Roman" panose="02020603050405020304" pitchFamily="18" charset="0"/>
                <a:cs typeface="Times New Roman" panose="02020603050405020304" pitchFamily="18" charset="0"/>
              </a:rPr>
              <a:t>Filtered COMPLETE order status</a:t>
            </a:r>
          </a:p>
          <a:p>
            <a:r>
              <a:rPr dirty="0">
                <a:latin typeface="Times New Roman" panose="02020603050405020304" pitchFamily="18" charset="0"/>
                <a:cs typeface="Times New Roman" panose="02020603050405020304" pitchFamily="18" charset="0"/>
              </a:rPr>
              <a:t>Calculated total sales and completed orders</a:t>
            </a:r>
          </a:p>
          <a:p>
            <a:r>
              <a:rPr dirty="0">
                <a:latin typeface="Times New Roman" panose="02020603050405020304" pitchFamily="18" charset="0"/>
                <a:cs typeface="Times New Roman" panose="02020603050405020304" pitchFamily="18" charset="0"/>
              </a:rPr>
              <a:t>Selected top 3 customers</a:t>
            </a:r>
          </a:p>
        </p:txBody>
      </p:sp>
      <p:pic>
        <p:nvPicPr>
          <p:cNvPr id="5" name="Picture 4">
            <a:extLst>
              <a:ext uri="{FF2B5EF4-FFF2-40B4-BE49-F238E27FC236}">
                <a16:creationId xmlns:a16="http://schemas.microsoft.com/office/drawing/2014/main" id="{A09B2CD3-9F29-1873-068F-2319C3859645}"/>
              </a:ext>
            </a:extLst>
          </p:cNvPr>
          <p:cNvPicPr>
            <a:picLocks noChangeAspect="1"/>
          </p:cNvPicPr>
          <p:nvPr/>
        </p:nvPicPr>
        <p:blipFill>
          <a:blip r:embed="rId3"/>
          <a:stretch>
            <a:fillRect/>
          </a:stretch>
        </p:blipFill>
        <p:spPr>
          <a:xfrm>
            <a:off x="1593273" y="2667000"/>
            <a:ext cx="2660072" cy="3749649"/>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926736" cy="1981200"/>
          </a:xfrm>
          <a:gradFill>
            <a:gsLst>
              <a:gs pos="35000">
                <a:schemeClr val="accent1">
                  <a:lumMod val="75000"/>
                  <a:alpha val="18000"/>
                </a:schemeClr>
              </a:gs>
              <a:gs pos="100000">
                <a:schemeClr val="accent1">
                  <a:tint val="84000"/>
                </a:schemeClr>
              </a:gs>
            </a:gsLst>
            <a:lin ang="5400000" scaled="0"/>
          </a:gradFill>
        </p:spPr>
        <p:txBody>
          <a:bodyPr>
            <a:normAutofit/>
          </a:bodyPr>
          <a:lstStyle/>
          <a:p>
            <a:r>
              <a:rPr dirty="0">
                <a:latin typeface="Times New Roman" panose="02020603050405020304" pitchFamily="18" charset="0"/>
                <a:cs typeface="Times New Roman" panose="02020603050405020304" pitchFamily="18" charset="0"/>
              </a:rPr>
              <a:t>Supply Chain Q3: Orders by Shipping Mode and Department</a:t>
            </a:r>
          </a:p>
        </p:txBody>
      </p:sp>
      <p:sp>
        <p:nvSpPr>
          <p:cNvPr id="5" name="Rectangle: Rounded Corners 4">
            <a:extLst>
              <a:ext uri="{FF2B5EF4-FFF2-40B4-BE49-F238E27FC236}">
                <a16:creationId xmlns:a16="http://schemas.microsoft.com/office/drawing/2014/main" id="{3DC82144-1A2A-3AFF-263F-C96DC61C792D}"/>
              </a:ext>
            </a:extLst>
          </p:cNvPr>
          <p:cNvSpPr/>
          <p:nvPr/>
        </p:nvSpPr>
        <p:spPr>
          <a:xfrm>
            <a:off x="841934" y="2756847"/>
            <a:ext cx="3730066" cy="3142885"/>
          </a:xfrm>
          <a:prstGeom prst="roundRect">
            <a:avLst/>
          </a:prstGeom>
          <a:gradFill>
            <a:gsLst>
              <a:gs pos="23000">
                <a:schemeClr val="accent6">
                  <a:lumMod val="20000"/>
                  <a:lumOff val="80000"/>
                  <a:alpha val="34000"/>
                </a:schemeClr>
              </a:gs>
              <a:gs pos="100000">
                <a:schemeClr val="accent1">
                  <a:tint val="84000"/>
                </a:schemeClr>
              </a:gs>
            </a:gsLst>
            <a:lin ang="5400000" scaled="0"/>
          </a:gradFill>
        </p:spPr>
        <p:style>
          <a:lnRef idx="1">
            <a:schemeClr val="accent1"/>
          </a:lnRef>
          <a:fillRef idx="2">
            <a:schemeClr val="accent1"/>
          </a:fillRef>
          <a:effectRef idx="1">
            <a:schemeClr val="accent1"/>
          </a:effectRef>
          <a:fontRef idx="minor">
            <a:schemeClr val="dk1"/>
          </a:fontRef>
        </p:style>
        <p:txBody>
          <a:bodyPr rtlCol="0" anchor="ct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Joined orders with product and department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Filtered COMPLETE and CLOSED orders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Applied HAVING clause for minimum 40 orders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Grouped by shipping mode and department</a:t>
            </a:r>
          </a:p>
        </p:txBody>
      </p:sp>
      <p:pic>
        <p:nvPicPr>
          <p:cNvPr id="4" name="Picture 3">
            <a:extLst>
              <a:ext uri="{FF2B5EF4-FFF2-40B4-BE49-F238E27FC236}">
                <a16:creationId xmlns:a16="http://schemas.microsoft.com/office/drawing/2014/main" id="{A692AD43-901D-66CA-ABCA-2909130BA3A1}"/>
              </a:ext>
            </a:extLst>
          </p:cNvPr>
          <p:cNvPicPr>
            <a:picLocks noChangeAspect="1"/>
          </p:cNvPicPr>
          <p:nvPr/>
        </p:nvPicPr>
        <p:blipFill>
          <a:blip r:embed="rId3"/>
          <a:stretch>
            <a:fillRect/>
          </a:stretch>
        </p:blipFill>
        <p:spPr>
          <a:xfrm>
            <a:off x="4965083" y="2853113"/>
            <a:ext cx="2017606" cy="3547686"/>
          </a:xfrm>
          <a:prstGeom prst="rect">
            <a:avLst/>
          </a:prstGeom>
        </p:spPr>
        <p:style>
          <a:lnRef idx="2">
            <a:schemeClr val="accent1"/>
          </a:lnRef>
          <a:fillRef idx="1">
            <a:schemeClr val="lt1"/>
          </a:fillRef>
          <a:effectRef idx="0">
            <a:schemeClr val="accent1"/>
          </a:effectRef>
          <a:fontRef idx="minor">
            <a:schemeClr val="dk1"/>
          </a:fontRef>
        </p:style>
      </p:pic>
      <p:pic>
        <p:nvPicPr>
          <p:cNvPr id="7" name="Picture 6">
            <a:extLst>
              <a:ext uri="{FF2B5EF4-FFF2-40B4-BE49-F238E27FC236}">
                <a16:creationId xmlns:a16="http://schemas.microsoft.com/office/drawing/2014/main" id="{C29197F0-DECD-696A-03C2-A29834BB1A9C}"/>
              </a:ext>
            </a:extLst>
          </p:cNvPr>
          <p:cNvPicPr>
            <a:picLocks noChangeAspect="1"/>
          </p:cNvPicPr>
          <p:nvPr/>
        </p:nvPicPr>
        <p:blipFill>
          <a:blip r:embed="rId4"/>
          <a:stretch>
            <a:fillRect/>
          </a:stretch>
        </p:blipFill>
        <p:spPr>
          <a:xfrm>
            <a:off x="7266257" y="2853112"/>
            <a:ext cx="1739198" cy="3547687"/>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attFill prst="smCheck">
            <a:fgClr>
              <a:schemeClr val="accent1">
                <a:lumMod val="40000"/>
                <a:lumOff val="60000"/>
              </a:schemeClr>
            </a:fgClr>
            <a:bgClr>
              <a:schemeClr val="bg1"/>
            </a:bgClr>
          </a:pattFill>
        </p:spPr>
        <p:txBody>
          <a:bodyPr>
            <a:normAutofit/>
          </a:bodyPr>
          <a:lstStyle/>
          <a:p>
            <a:r>
              <a:rPr dirty="0">
                <a:latin typeface="Times New Roman" panose="02020603050405020304" pitchFamily="18" charset="0"/>
                <a:cs typeface="Times New Roman" panose="02020603050405020304" pitchFamily="18" charset="0"/>
              </a:rPr>
              <a:t>Supply Chain Q4: Shipment Compliance Analysis</a:t>
            </a:r>
          </a:p>
        </p:txBody>
      </p:sp>
      <p:sp>
        <p:nvSpPr>
          <p:cNvPr id="3" name="Content Placeholder 2"/>
          <p:cNvSpPr>
            <a:spLocks noGrp="1"/>
          </p:cNvSpPr>
          <p:nvPr>
            <p:ph idx="1"/>
          </p:nvPr>
        </p:nvSpPr>
        <p:spPr>
          <a:xfrm>
            <a:off x="982134" y="2667000"/>
            <a:ext cx="3769976" cy="3332816"/>
          </a:xfrm>
          <a:pattFill prst="pct10">
            <a:fgClr>
              <a:schemeClr val="accent1">
                <a:lumMod val="40000"/>
                <a:lumOff val="60000"/>
              </a:schemeClr>
            </a:fgClr>
            <a:bgClr>
              <a:schemeClr val="bg1"/>
            </a:bgClr>
          </a:pattFill>
        </p:spPr>
        <p:txBody>
          <a:bodyPr>
            <a:normAutofit fontScale="92500" lnSpcReduction="10000"/>
          </a:bodyPr>
          <a:lstStyle/>
          <a:p>
            <a:r>
              <a:rPr dirty="0">
                <a:latin typeface="Times New Roman" panose="02020603050405020304" pitchFamily="18" charset="0"/>
                <a:cs typeface="Times New Roman" panose="02020603050405020304" pitchFamily="18" charset="0"/>
              </a:rPr>
              <a:t>Created shipment compliance categories using CASE</a:t>
            </a:r>
          </a:p>
          <a:p>
            <a:r>
              <a:rPr dirty="0">
                <a:latin typeface="Times New Roman" panose="02020603050405020304" pitchFamily="18" charset="0"/>
                <a:cs typeface="Times New Roman" panose="02020603050405020304" pitchFamily="18" charset="0"/>
              </a:rPr>
              <a:t>Compared real and scheduled shipping days</a:t>
            </a:r>
          </a:p>
          <a:p>
            <a:r>
              <a:rPr dirty="0">
                <a:latin typeface="Times New Roman" panose="02020603050405020304" pitchFamily="18" charset="0"/>
                <a:cs typeface="Times New Roman" panose="02020603050405020304" pitchFamily="18" charset="0"/>
              </a:rPr>
              <a:t>Identified delayed shipment categories</a:t>
            </a:r>
          </a:p>
          <a:p>
            <a:r>
              <a:rPr dirty="0">
                <a:latin typeface="Times New Roman" panose="02020603050405020304" pitchFamily="18" charset="0"/>
                <a:cs typeface="Times New Roman" panose="02020603050405020304" pitchFamily="18" charset="0"/>
              </a:rPr>
              <a:t>Found shipping mode with maximum delays</a:t>
            </a:r>
          </a:p>
        </p:txBody>
      </p:sp>
      <p:pic>
        <p:nvPicPr>
          <p:cNvPr id="5" name="Picture 4">
            <a:extLst>
              <a:ext uri="{FF2B5EF4-FFF2-40B4-BE49-F238E27FC236}">
                <a16:creationId xmlns:a16="http://schemas.microsoft.com/office/drawing/2014/main" id="{4B417FC9-D3B9-8A22-60DA-BA9032E6E715}"/>
              </a:ext>
            </a:extLst>
          </p:cNvPr>
          <p:cNvPicPr>
            <a:picLocks noChangeAspect="1"/>
          </p:cNvPicPr>
          <p:nvPr/>
        </p:nvPicPr>
        <p:blipFill>
          <a:blip r:embed="rId3"/>
          <a:stretch>
            <a:fillRect/>
          </a:stretch>
        </p:blipFill>
        <p:spPr>
          <a:xfrm>
            <a:off x="4834665" y="2767940"/>
            <a:ext cx="2022764" cy="3130935"/>
          </a:xfrm>
          <a:prstGeom prst="rect">
            <a:avLst/>
          </a:prstGeom>
        </p:spPr>
        <p:style>
          <a:lnRef idx="2">
            <a:schemeClr val="accent1"/>
          </a:lnRef>
          <a:fillRef idx="1">
            <a:schemeClr val="lt1"/>
          </a:fillRef>
          <a:effectRef idx="0">
            <a:schemeClr val="accent1"/>
          </a:effectRef>
          <a:fontRef idx="minor">
            <a:schemeClr val="dk1"/>
          </a:fontRef>
        </p:style>
      </p:pic>
      <p:pic>
        <p:nvPicPr>
          <p:cNvPr id="7" name="Picture 6">
            <a:extLst>
              <a:ext uri="{FF2B5EF4-FFF2-40B4-BE49-F238E27FC236}">
                <a16:creationId xmlns:a16="http://schemas.microsoft.com/office/drawing/2014/main" id="{E89F7E7D-1260-504A-356E-7AD9F4D0EAD6}"/>
              </a:ext>
            </a:extLst>
          </p:cNvPr>
          <p:cNvPicPr>
            <a:picLocks noChangeAspect="1"/>
          </p:cNvPicPr>
          <p:nvPr/>
        </p:nvPicPr>
        <p:blipFill>
          <a:blip r:embed="rId4"/>
          <a:stretch>
            <a:fillRect/>
          </a:stretch>
        </p:blipFill>
        <p:spPr>
          <a:xfrm>
            <a:off x="7002043" y="2767940"/>
            <a:ext cx="1842084" cy="3130935"/>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a:gsLst>
              <a:gs pos="14000">
                <a:schemeClr val="accent6">
                  <a:lumMod val="40000"/>
                  <a:lumOff val="60000"/>
                  <a:alpha val="38000"/>
                </a:schemeClr>
              </a:gs>
              <a:gs pos="100000">
                <a:schemeClr val="accent1">
                  <a:tint val="84000"/>
                </a:schemeClr>
              </a:gs>
            </a:gsLst>
            <a:lin ang="5400000" scaled="0"/>
          </a:gradFill>
        </p:spPr>
        <p:txBody>
          <a:bodyPr>
            <a:normAutofit/>
          </a:bodyPr>
          <a:lstStyle/>
          <a:p>
            <a:r>
              <a:rPr dirty="0">
                <a:latin typeface="Times New Roman" panose="02020603050405020304" pitchFamily="18" charset="0"/>
                <a:cs typeface="Times New Roman" panose="02020603050405020304" pitchFamily="18" charset="0"/>
              </a:rPr>
              <a:t>Supply Chain Q5: Cancellation Percentage by State</a:t>
            </a:r>
          </a:p>
        </p:txBody>
      </p:sp>
      <p:sp>
        <p:nvSpPr>
          <p:cNvPr id="3" name="Content Placeholder 2"/>
          <p:cNvSpPr>
            <a:spLocks noGrp="1"/>
          </p:cNvSpPr>
          <p:nvPr>
            <p:ph idx="1"/>
          </p:nvPr>
        </p:nvSpPr>
        <p:spPr>
          <a:xfrm>
            <a:off x="982134" y="2667000"/>
            <a:ext cx="3271212" cy="3332816"/>
          </a:xfrm>
          <a:gradFill>
            <a:gsLst>
              <a:gs pos="0">
                <a:schemeClr val="accent1">
                  <a:lumMod val="20000"/>
                  <a:lumOff val="80000"/>
                  <a:alpha val="0"/>
                </a:schemeClr>
              </a:gs>
              <a:gs pos="100000">
                <a:schemeClr val="accent1">
                  <a:tint val="84000"/>
                </a:schemeClr>
              </a:gs>
            </a:gsLst>
            <a:lin ang="5400000" scaled="0"/>
          </a:gradFill>
        </p:spPr>
        <p:txBody>
          <a:bodyPr>
            <a:normAutofit fontScale="92500"/>
          </a:bodyPr>
          <a:lstStyle/>
          <a:p>
            <a:r>
              <a:rPr dirty="0">
                <a:latin typeface="Times New Roman" panose="02020603050405020304" pitchFamily="18" charset="0"/>
                <a:cs typeface="Times New Roman" panose="02020603050405020304" pitchFamily="18" charset="0"/>
              </a:rPr>
              <a:t>Filtered canceled and fraudulent orders</a:t>
            </a:r>
          </a:p>
          <a:p>
            <a:r>
              <a:rPr dirty="0">
                <a:latin typeface="Times New Roman" panose="02020603050405020304" pitchFamily="18" charset="0"/>
                <a:cs typeface="Times New Roman" panose="02020603050405020304" pitchFamily="18" charset="0"/>
              </a:rPr>
              <a:t>Calculated total orders per state</a:t>
            </a:r>
          </a:p>
          <a:p>
            <a:r>
              <a:rPr dirty="0">
                <a:latin typeface="Times New Roman" panose="02020603050405020304" pitchFamily="18" charset="0"/>
                <a:cs typeface="Times New Roman" panose="02020603050405020304" pitchFamily="18" charset="0"/>
              </a:rPr>
              <a:t>Computed cancellation percentage</a:t>
            </a:r>
          </a:p>
          <a:p>
            <a:r>
              <a:rPr dirty="0">
                <a:latin typeface="Times New Roman" panose="02020603050405020304" pitchFamily="18" charset="0"/>
                <a:cs typeface="Times New Roman" panose="02020603050405020304" pitchFamily="18" charset="0"/>
              </a:rPr>
              <a:t>Sorted states by cancellation rate</a:t>
            </a:r>
          </a:p>
        </p:txBody>
      </p:sp>
      <p:pic>
        <p:nvPicPr>
          <p:cNvPr id="5" name="Picture 4">
            <a:extLst>
              <a:ext uri="{FF2B5EF4-FFF2-40B4-BE49-F238E27FC236}">
                <a16:creationId xmlns:a16="http://schemas.microsoft.com/office/drawing/2014/main" id="{63A9E2BA-DADE-50B7-4B5B-3E094474114F}"/>
              </a:ext>
            </a:extLst>
          </p:cNvPr>
          <p:cNvPicPr>
            <a:picLocks noChangeAspect="1"/>
          </p:cNvPicPr>
          <p:nvPr/>
        </p:nvPicPr>
        <p:blipFill>
          <a:blip r:embed="rId3"/>
          <a:stretch>
            <a:fillRect/>
          </a:stretch>
        </p:blipFill>
        <p:spPr>
          <a:xfrm>
            <a:off x="4572000" y="2533901"/>
            <a:ext cx="2231064" cy="3771397"/>
          </a:xfrm>
          <a:prstGeom prst="rect">
            <a:avLst/>
          </a:prstGeom>
        </p:spPr>
        <p:style>
          <a:lnRef idx="2">
            <a:schemeClr val="accent1"/>
          </a:lnRef>
          <a:fillRef idx="1">
            <a:schemeClr val="lt1"/>
          </a:fillRef>
          <a:effectRef idx="0">
            <a:schemeClr val="accent1"/>
          </a:effectRef>
          <a:fontRef idx="minor">
            <a:schemeClr val="dk1"/>
          </a:fontRef>
        </p:style>
      </p:pic>
      <p:pic>
        <p:nvPicPr>
          <p:cNvPr id="7" name="Picture 6">
            <a:extLst>
              <a:ext uri="{FF2B5EF4-FFF2-40B4-BE49-F238E27FC236}">
                <a16:creationId xmlns:a16="http://schemas.microsoft.com/office/drawing/2014/main" id="{EFE6C49C-0640-7251-3CE9-0D40258D75FC}"/>
              </a:ext>
            </a:extLst>
          </p:cNvPr>
          <p:cNvPicPr>
            <a:picLocks noChangeAspect="1"/>
          </p:cNvPicPr>
          <p:nvPr/>
        </p:nvPicPr>
        <p:blipFill>
          <a:blip r:embed="rId4"/>
          <a:stretch>
            <a:fillRect/>
          </a:stretch>
        </p:blipFill>
        <p:spPr>
          <a:xfrm>
            <a:off x="7121718" y="2600450"/>
            <a:ext cx="1453391" cy="3465915"/>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7A794-A7B3-D9CC-9ABA-2BADCE61A7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E36B5-D824-C7D4-5672-DD394DB91A12}"/>
              </a:ext>
            </a:extLst>
          </p:cNvPr>
          <p:cNvSpPr>
            <a:spLocks noGrp="1"/>
          </p:cNvSpPr>
          <p:nvPr>
            <p:ph type="title"/>
          </p:nvPr>
        </p:nvSpPr>
        <p:spPr>
          <a:xfrm>
            <a:off x="982133" y="457201"/>
            <a:ext cx="7704667" cy="1579417"/>
          </a:xfrm>
          <a:pattFill prst="pct60">
            <a:fgClr>
              <a:schemeClr val="accent1">
                <a:lumMod val="75000"/>
              </a:schemeClr>
            </a:fgClr>
            <a:bgClr>
              <a:schemeClr val="bg1"/>
            </a:bgClr>
          </a:pattFill>
        </p:spPr>
        <p:txBody>
          <a:bodyPr/>
          <a:lstStyle/>
          <a:p>
            <a:r>
              <a:rPr lang="en-US" dirty="0">
                <a:latin typeface="Times New Roman" panose="02020603050405020304" pitchFamily="18" charset="0"/>
                <a:cs typeface="Times New Roman" panose="02020603050405020304" pitchFamily="18" charset="0"/>
              </a:rPr>
              <a:t>Summary </a:t>
            </a:r>
          </a:p>
        </p:txBody>
      </p:sp>
      <p:sp>
        <p:nvSpPr>
          <p:cNvPr id="4" name="Rectangle 1">
            <a:extLst>
              <a:ext uri="{FF2B5EF4-FFF2-40B4-BE49-F238E27FC236}">
                <a16:creationId xmlns:a16="http://schemas.microsoft.com/office/drawing/2014/main" id="{B01798D7-7240-40D2-92FD-61D7A1F95701}"/>
              </a:ext>
            </a:extLst>
          </p:cNvPr>
          <p:cNvSpPr>
            <a:spLocks noGrp="1" noChangeArrowheads="1"/>
          </p:cNvSpPr>
          <p:nvPr>
            <p:ph idx="1"/>
          </p:nvPr>
        </p:nvSpPr>
        <p:spPr bwMode="auto">
          <a:xfrm>
            <a:off x="1094510" y="2489388"/>
            <a:ext cx="7592290" cy="3416320"/>
          </a:xfrm>
          <a:prstGeom prst="rect">
            <a:avLst/>
          </a:prstGeom>
          <a:pattFill prst="pct10">
            <a:fgClr>
              <a:schemeClr val="accent1">
                <a:lumMod val="75000"/>
              </a:schemeClr>
            </a:fgClr>
            <a:bgClr>
              <a:schemeClr val="bg1"/>
            </a:bgClr>
          </a:patt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Commodity analysis identified pricing trends and variations </a:t>
            </a:r>
          </a:p>
          <a:p>
            <a:pPr defTabSz="9144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Supply chain analysis evaluated customer behavior and shipment performance </a:t>
            </a:r>
          </a:p>
          <a:p>
            <a:pPr defTabSz="914400" eaLnBrk="0" fontAlgn="base" hangingPunct="0">
              <a:spcBef>
                <a:spcPct val="0"/>
              </a:spcBef>
              <a:spcAft>
                <a:spcPct val="0"/>
              </a:spcAft>
              <a:buClrTx/>
              <a:buSzTx/>
            </a:pPr>
            <a:r>
              <a:rPr lang="en-US" dirty="0">
                <a:latin typeface="Times New Roman" panose="02020603050405020304" pitchFamily="18" charset="0"/>
                <a:cs typeface="Times New Roman" panose="02020603050405020304" pitchFamily="18" charset="0"/>
              </a:rPr>
              <a:t>ChatGPT was used for SQL query debugging and error correction</a:t>
            </a:r>
          </a:p>
          <a:p>
            <a:pPr defTabSz="914400" eaLnBrk="0" fontAlgn="base" hangingPunct="0">
              <a:spcBef>
                <a:spcPct val="0"/>
              </a:spcBef>
              <a:spcAft>
                <a:spcPct val="0"/>
              </a:spcAft>
              <a:buClrTx/>
              <a:buSzTx/>
            </a:pPr>
            <a:r>
              <a:rPr lang="en-US" dirty="0">
                <a:latin typeface="Times New Roman" panose="02020603050405020304" pitchFamily="18" charset="0"/>
                <a:cs typeface="Times New Roman" panose="02020603050405020304" pitchFamily="18" charset="0"/>
              </a:rPr>
              <a:t>AI assistance helped identify table structures, column mismatches, and dataset loading issues </a:t>
            </a:r>
          </a:p>
        </p:txBody>
      </p:sp>
    </p:spTree>
    <p:extLst>
      <p:ext uri="{BB962C8B-B14F-4D97-AF65-F5344CB8AC3E}">
        <p14:creationId xmlns:p14="http://schemas.microsoft.com/office/powerpoint/2010/main" val="1036023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5C10-3086-CB9E-DAF5-67E07B6C70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6EDF530-E4CC-910F-05FA-08576A5C5B6C}"/>
              </a:ext>
            </a:extLst>
          </p:cNvPr>
          <p:cNvPicPr>
            <a:picLocks noChangeAspect="1"/>
          </p:cNvPicPr>
          <p:nvPr/>
        </p:nvPicPr>
        <p:blipFill>
          <a:blip r:embed="rId2"/>
          <a:stretch>
            <a:fillRect/>
          </a:stretch>
        </p:blipFill>
        <p:spPr>
          <a:xfrm>
            <a:off x="1990492" y="1383563"/>
            <a:ext cx="5815008" cy="3671763"/>
          </a:xfrm>
          <a:prstGeom prst="rect">
            <a:avLst/>
          </a:prstGeom>
          <a:effectLst>
            <a:glow rad="1752600">
              <a:schemeClr val="accent1">
                <a:alpha val="40000"/>
              </a:schemeClr>
            </a:glow>
          </a:effectLst>
        </p:spPr>
      </p:pic>
    </p:spTree>
    <p:extLst>
      <p:ext uri="{BB962C8B-B14F-4D97-AF65-F5344CB8AC3E}">
        <p14:creationId xmlns:p14="http://schemas.microsoft.com/office/powerpoint/2010/main" val="41427311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254</TotalTime>
  <Words>2503</Words>
  <Application>Microsoft Office PowerPoint</Application>
  <PresentationFormat>On-screen Show (4:3)</PresentationFormat>
  <Paragraphs>101</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Corbel</vt:lpstr>
      <vt:lpstr>Times New Roman</vt:lpstr>
      <vt:lpstr>Parallax</vt:lpstr>
      <vt:lpstr> </vt:lpstr>
      <vt:lpstr>Introduction to the SQL Data Analysis</vt:lpstr>
      <vt:lpstr>Commodity Q1: Common Top 10 Costliest Commodities</vt:lpstr>
      <vt:lpstr>Commodity Q2: Maximum Price Difference in June 2020</vt:lpstr>
      <vt:lpstr>Commodity Q3: Commodity Varieties Ranking</vt:lpstr>
      <vt:lpstr>Commodity Q4: Commodity with Highest Records in Least Active State</vt:lpstr>
      <vt:lpstr>Commodity Q5: Highest Price Variation Between 2019 and 2020</vt:lpstr>
      <vt:lpstr>Supply Chain Q1: Orders by Transaction Type</vt:lpstr>
      <vt:lpstr>Supply Chain Q2: Top 3 Customers by Completed Orders</vt:lpstr>
      <vt:lpstr>Supply Chain Q3: Orders by Shipping Mode and Department</vt:lpstr>
      <vt:lpstr>Supply Chain Q4: Shipment Compliance Analysis</vt:lpstr>
      <vt:lpstr>Supply Chain Q5: Cancellation Percentage by State</vt:lpstr>
      <vt:lpstr>Summary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Bidushi</dc:creator>
  <cp:keywords/>
  <dc:description>generated using python-pptx</dc:description>
  <cp:lastModifiedBy>Bidushi Khan</cp:lastModifiedBy>
  <cp:revision>11</cp:revision>
  <dcterms:created xsi:type="dcterms:W3CDTF">2013-01-27T09:14:16Z</dcterms:created>
  <dcterms:modified xsi:type="dcterms:W3CDTF">2026-05-27T18:08:06Z</dcterms:modified>
  <cp:category/>
</cp:coreProperties>
</file>