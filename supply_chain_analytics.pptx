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739" autoAdjust="0"/>
  </p:normalViewPr>
  <p:slideViewPr>
    <p:cSldViewPr snapToGrid="0" snapToObjects="1">
      <p:cViewPr>
        <p:scale>
          <a:sx n="84" d="100"/>
          <a:sy n="84" d="100"/>
        </p:scale>
        <p:origin x="1426"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3611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N" sz="1200" b="0" i="0" u="none" strike="noStrike" kern="1200" dirty="0">
                <a:solidFill>
                  <a:schemeClr val="tx1"/>
                </a:solidFill>
                <a:effectLst/>
                <a:latin typeface="+mn-lt"/>
                <a:ea typeface="+mn-ea"/>
                <a:cs typeface="+mn-cs"/>
              </a:rPr>
              <a:t>This project focuses on </a:t>
            </a:r>
            <a:r>
              <a:rPr lang="en-IN" sz="1200" b="0" i="0" u="none" strike="noStrike" kern="1200" dirty="0" err="1">
                <a:solidFill>
                  <a:schemeClr val="tx1"/>
                </a:solidFill>
                <a:effectLst/>
                <a:latin typeface="+mn-lt"/>
                <a:ea typeface="+mn-ea"/>
                <a:cs typeface="+mn-cs"/>
              </a:rPr>
              <a:t>analyzing</a:t>
            </a:r>
            <a:r>
              <a:rPr lang="en-IN" sz="1200" b="0" i="0" u="none" strike="noStrike" kern="1200" dirty="0">
                <a:solidFill>
                  <a:schemeClr val="tx1"/>
                </a:solidFill>
                <a:effectLst/>
                <a:latin typeface="+mn-lt"/>
                <a:ea typeface="+mn-ea"/>
                <a:cs typeface="+mn-cs"/>
              </a:rPr>
              <a:t> supply chain operations and customer order </a:t>
            </a:r>
            <a:r>
              <a:rPr lang="en-IN" sz="1200" b="0" i="0" u="none" strike="noStrike" kern="1200" dirty="0" err="1">
                <a:solidFill>
                  <a:schemeClr val="tx1"/>
                </a:solidFill>
                <a:effectLst/>
                <a:latin typeface="+mn-lt"/>
                <a:ea typeface="+mn-ea"/>
                <a:cs typeface="+mn-cs"/>
              </a:rPr>
              <a:t>behavior</a:t>
            </a:r>
            <a:r>
              <a:rPr lang="en-IN" sz="1200" b="0" i="0" u="none" strike="noStrike" kern="1200" dirty="0">
                <a:solidFill>
                  <a:schemeClr val="tx1"/>
                </a:solidFill>
                <a:effectLst/>
                <a:latin typeface="+mn-lt"/>
                <a:ea typeface="+mn-ea"/>
                <a:cs typeface="+mn-cs"/>
              </a:rPr>
              <a:t> using business analytics techniques. The dataset was stored in a MySQL database called </a:t>
            </a:r>
            <a:r>
              <a:rPr lang="en-IN" sz="1200" b="0" i="1" u="none" strike="noStrike" kern="1200" dirty="0" err="1">
                <a:solidFill>
                  <a:schemeClr val="tx1"/>
                </a:solidFill>
                <a:effectLst/>
                <a:latin typeface="+mn-lt"/>
                <a:ea typeface="+mn-ea"/>
                <a:cs typeface="+mn-cs"/>
              </a:rPr>
              <a:t>commodities_supply</a:t>
            </a:r>
            <a:r>
              <a:rPr lang="en-IN" sz="1200" b="0" i="0" u="none" strike="noStrike" kern="1200" dirty="0">
                <a:solidFill>
                  <a:schemeClr val="tx1"/>
                </a:solidFill>
                <a:effectLst/>
                <a:latin typeface="+mn-lt"/>
                <a:ea typeface="+mn-ea"/>
                <a:cs typeface="+mn-cs"/>
              </a:rPr>
              <a:t>, which contains information related to orders, customers, products, shipping methods, and sales transactions. Python was connected to the database using the </a:t>
            </a:r>
            <a:r>
              <a:rPr lang="en-IN" sz="1200" b="0" i="0" u="none" strike="noStrike" kern="1200" dirty="0" err="1">
                <a:solidFill>
                  <a:schemeClr val="tx1"/>
                </a:solidFill>
                <a:effectLst/>
                <a:latin typeface="+mn-lt"/>
                <a:ea typeface="+mn-ea"/>
                <a:cs typeface="+mn-cs"/>
              </a:rPr>
              <a:t>mysql.connector</a:t>
            </a:r>
            <a:r>
              <a:rPr lang="en-IN" sz="1200" b="0" i="0" u="none" strike="noStrike" kern="1200" dirty="0">
                <a:solidFill>
                  <a:schemeClr val="tx1"/>
                </a:solidFill>
                <a:effectLst/>
                <a:latin typeface="+mn-lt"/>
                <a:ea typeface="+mn-ea"/>
                <a:cs typeface="+mn-cs"/>
              </a:rPr>
              <a:t> library, and the required data was imported into Pandas </a:t>
            </a:r>
            <a:r>
              <a:rPr lang="en-IN" sz="1200" b="0" i="0" u="none" strike="noStrike" kern="1200" dirty="0" err="1">
                <a:solidFill>
                  <a:schemeClr val="tx1"/>
                </a:solidFill>
                <a:effectLst/>
                <a:latin typeface="+mn-lt"/>
                <a:ea typeface="+mn-ea"/>
                <a:cs typeface="+mn-cs"/>
              </a:rPr>
              <a:t>DataFrames</a:t>
            </a:r>
            <a:r>
              <a:rPr lang="en-IN" sz="1200" b="0" i="0" u="none" strike="noStrike" kern="1200" dirty="0">
                <a:solidFill>
                  <a:schemeClr val="tx1"/>
                </a:solidFill>
                <a:effectLst/>
                <a:latin typeface="+mn-lt"/>
                <a:ea typeface="+mn-ea"/>
                <a:cs typeface="+mn-cs"/>
              </a:rPr>
              <a:t> for analysis. SQL was used to extract and prepare the data, while Python libraries such as Pandas, Matplotlib, and Seaborn were used for visualization and analysis. The project follows three stages of Exploratory Data Analysis: Univariate, Bivariate, and Multivariate Analysis to generate actionable business insights.</a:t>
            </a:r>
            <a:endParaRPr lang="en-IN" b="0" dirty="0">
              <a:effectLst/>
            </a:endParaRPr>
          </a:p>
          <a:p>
            <a:br>
              <a:rPr lang="en-IN"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this analysis was to understand how sales are distributed across customer orders. By examining the sales variable independently, we can identify common spending patterns and determine whether revenue is evenly distributed. The histogram revealed that most transactions occur within a specific sales range, while a small number of orders generate exceptionally high revenue. This suggests that a limited group of customers contributes significantly to total sales. These insights are valuable for customer segmentation, revenue forecasting, and developing strategies to retain high-value customers.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focused on identifying customer preferences regarding shipping methods. Understanding which shipping mode customers select most frequently helps the company allocate logistics resources more effectively. The analysis showed that one shipping method was significantly more popular than the others, indicating a clear customer preference. This information is important for planning delivery operations, improving service quality, and ensuring that resources are aligned with customer demand.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examined the relationship between shipping mode and sales performance. The objective was to determine whether customers who choose different delivery options exhibit different spending behaviors. Average sales values were calculated for each shipping mode and compared. The results showed that certain shipping methods were associated with higher average sales, suggesting that customers selecting those options may represent higher-value segments. These insights can help the company optimize shipping services, improve customer targeting, and increase revenue through more effective logistics strategies.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this analysis was to understand how order outcomes influence revenue generation. Sales were compared across different order statuses such as Complete, Closed, and Cancelled. The analysis demonstrated that completed orders contribute the majority of business revenue, while cancelled orders represent lost sales opportunities. Understanding the relationship between order status and revenue is important because it highlights the financial impact of operational inefficiencies. The findings can help management focus on reducing cancellations and improving fulfillment processes to protect revenue.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investigated which states generate the highest number of customer orders. By aggregating order counts by state, we were able to identify the regions that contribute most significantly to business demand. The results showed that a small number of states account for a large proportion of total orders. These findings are important because they help management prioritize inventory allocation, logistics planning, and marketing investments. Understanding regional demand patterns also supports future business expansion strategies.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multivariate analysis combined sales, shipping duration, and order status to evaluate how delivery performance affects business outcomes. The goal was to determine whether longer shipping times are associated with lower sales or unsuccessful order completion. The results suggested that delivery delays may negatively impact customer satisfaction and order outcomes. Since timely delivery is an important factor in customer experience, improving shipping performance can contribute to higher completion rates, increased revenue, and stronger customer loyalty.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analysis explored the combined relationship between shipping methods, sales performance, and order outcomes. By evaluating these variables together, we can identify which delivery options generate the best overall business performance. The results indicated that some shipping methods consistently achieved stronger sales performance and higher completion rates. These findings help the company identify the most effective logistics strategies and prioritize investment in shipping services that provide both operational and financial benefits.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this analysis was to understand how geographic location and shipping preferences influence revenue generation. By combining state, shipping mode, and sales data, we were able to identify regional patterns in customer behavior. The analysis showed that certain states and shipping method combinations generated substantially higher revenue than others. These findings can support regional marketing initiatives, logistics planning, and resource allocation decisions. Tailoring business strategies to regional customer preferences can improve both operational efficiency and profitability.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demonstrated how SQL and Python can be integrated to perform business analytics and generate meaningful insights from operational data. The univariate analyses helped understand customer spending behavior and shipping preferences. The bivariate analyses revealed important relationships between sales, order outcomes, shipping methods, and regional demand. The multivariate analyses showed how multiple operational factors interact to influence business performance. Based on these findings, the company should focus on retaining high-value customers, improving delivery efficiency, reducing order cancellations, and investing resources in high-performing regions.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97A7"/>
          </a:solidFill>
          <a:ln w="12700">
            <a:solidFill>
              <a:srgbClr val="0097A7"/>
            </a:solidFill>
            <a:prstDash val="solid"/>
          </a:ln>
        </p:spPr>
      </p:sp>
      <p:sp>
        <p:nvSpPr>
          <p:cNvPr id="3" name="Shape 1"/>
          <p:cNvSpPr/>
          <p:nvPr/>
        </p:nvSpPr>
        <p:spPr>
          <a:xfrm>
            <a:off x="6217920" y="0"/>
            <a:ext cx="2926080" cy="5143500"/>
          </a:xfrm>
          <a:prstGeom prst="rect">
            <a:avLst/>
          </a:prstGeom>
          <a:solidFill>
            <a:srgbClr val="081D36"/>
          </a:solidFill>
          <a:ln w="12700">
            <a:solidFill>
              <a:srgbClr val="081D36"/>
            </a:solidFill>
            <a:prstDash val="solid"/>
          </a:ln>
        </p:spPr>
      </p:sp>
      <p:sp>
        <p:nvSpPr>
          <p:cNvPr id="4" name="Shape 2"/>
          <p:cNvSpPr/>
          <p:nvPr/>
        </p:nvSpPr>
        <p:spPr>
          <a:xfrm>
            <a:off x="6492240" y="274320"/>
            <a:ext cx="73152" cy="73152"/>
          </a:xfrm>
          <a:prstGeom prst="ellipse">
            <a:avLst/>
          </a:prstGeom>
          <a:solidFill>
            <a:srgbClr val="00BCD4">
              <a:alpha val="40000"/>
            </a:srgbClr>
          </a:solidFill>
          <a:ln w="12700">
            <a:solidFill>
              <a:srgbClr val="00BCD4">
                <a:alpha val="40000"/>
              </a:srgbClr>
            </a:solidFill>
            <a:prstDash val="solid"/>
          </a:ln>
        </p:spPr>
      </p:sp>
      <p:sp>
        <p:nvSpPr>
          <p:cNvPr id="5" name="Shape 3"/>
          <p:cNvSpPr/>
          <p:nvPr/>
        </p:nvSpPr>
        <p:spPr>
          <a:xfrm>
            <a:off x="6995160" y="274320"/>
            <a:ext cx="73152" cy="73152"/>
          </a:xfrm>
          <a:prstGeom prst="ellipse">
            <a:avLst/>
          </a:prstGeom>
          <a:solidFill>
            <a:srgbClr val="00BCD4">
              <a:alpha val="40000"/>
            </a:srgbClr>
          </a:solidFill>
          <a:ln w="12700">
            <a:solidFill>
              <a:srgbClr val="00BCD4">
                <a:alpha val="40000"/>
              </a:srgbClr>
            </a:solidFill>
            <a:prstDash val="solid"/>
          </a:ln>
        </p:spPr>
      </p:sp>
      <p:sp>
        <p:nvSpPr>
          <p:cNvPr id="6" name="Shape 4"/>
          <p:cNvSpPr/>
          <p:nvPr/>
        </p:nvSpPr>
        <p:spPr>
          <a:xfrm>
            <a:off x="7498080" y="274320"/>
            <a:ext cx="73152" cy="73152"/>
          </a:xfrm>
          <a:prstGeom prst="ellipse">
            <a:avLst/>
          </a:prstGeom>
          <a:solidFill>
            <a:srgbClr val="00BCD4">
              <a:alpha val="40000"/>
            </a:srgbClr>
          </a:solidFill>
          <a:ln w="12700">
            <a:solidFill>
              <a:srgbClr val="00BCD4">
                <a:alpha val="40000"/>
              </a:srgbClr>
            </a:solidFill>
            <a:prstDash val="solid"/>
          </a:ln>
        </p:spPr>
      </p:sp>
      <p:sp>
        <p:nvSpPr>
          <p:cNvPr id="7" name="Shape 5"/>
          <p:cNvSpPr/>
          <p:nvPr/>
        </p:nvSpPr>
        <p:spPr>
          <a:xfrm>
            <a:off x="8001000" y="274320"/>
            <a:ext cx="73152" cy="73152"/>
          </a:xfrm>
          <a:prstGeom prst="ellipse">
            <a:avLst/>
          </a:prstGeom>
          <a:solidFill>
            <a:srgbClr val="00BCD4">
              <a:alpha val="40000"/>
            </a:srgbClr>
          </a:solidFill>
          <a:ln w="12700">
            <a:solidFill>
              <a:srgbClr val="00BCD4">
                <a:alpha val="40000"/>
              </a:srgbClr>
            </a:solidFill>
            <a:prstDash val="solid"/>
          </a:ln>
        </p:spPr>
      </p:sp>
      <p:sp>
        <p:nvSpPr>
          <p:cNvPr id="8" name="Shape 6"/>
          <p:cNvSpPr/>
          <p:nvPr/>
        </p:nvSpPr>
        <p:spPr>
          <a:xfrm>
            <a:off x="8503920" y="274320"/>
            <a:ext cx="73152" cy="73152"/>
          </a:xfrm>
          <a:prstGeom prst="ellipse">
            <a:avLst/>
          </a:prstGeom>
          <a:solidFill>
            <a:srgbClr val="00BCD4">
              <a:alpha val="40000"/>
            </a:srgbClr>
          </a:solidFill>
          <a:ln w="12700">
            <a:solidFill>
              <a:srgbClr val="00BCD4">
                <a:alpha val="40000"/>
              </a:srgbClr>
            </a:solidFill>
            <a:prstDash val="solid"/>
          </a:ln>
        </p:spPr>
      </p:sp>
      <p:sp>
        <p:nvSpPr>
          <p:cNvPr id="9" name="Shape 7"/>
          <p:cNvSpPr/>
          <p:nvPr/>
        </p:nvSpPr>
        <p:spPr>
          <a:xfrm>
            <a:off x="6492240" y="1051560"/>
            <a:ext cx="73152" cy="73152"/>
          </a:xfrm>
          <a:prstGeom prst="ellipse">
            <a:avLst/>
          </a:prstGeom>
          <a:solidFill>
            <a:srgbClr val="00BCD4">
              <a:alpha val="40000"/>
            </a:srgbClr>
          </a:solidFill>
          <a:ln w="12700">
            <a:solidFill>
              <a:srgbClr val="00BCD4">
                <a:alpha val="40000"/>
              </a:srgbClr>
            </a:solidFill>
            <a:prstDash val="solid"/>
          </a:ln>
        </p:spPr>
      </p:sp>
      <p:sp>
        <p:nvSpPr>
          <p:cNvPr id="10" name="Shape 8"/>
          <p:cNvSpPr/>
          <p:nvPr/>
        </p:nvSpPr>
        <p:spPr>
          <a:xfrm>
            <a:off x="6995160" y="1051560"/>
            <a:ext cx="73152" cy="73152"/>
          </a:xfrm>
          <a:prstGeom prst="ellipse">
            <a:avLst/>
          </a:prstGeom>
          <a:solidFill>
            <a:srgbClr val="00BCD4">
              <a:alpha val="40000"/>
            </a:srgbClr>
          </a:solidFill>
          <a:ln w="12700">
            <a:solidFill>
              <a:srgbClr val="00BCD4">
                <a:alpha val="40000"/>
              </a:srgbClr>
            </a:solidFill>
            <a:prstDash val="solid"/>
          </a:ln>
        </p:spPr>
      </p:sp>
      <p:sp>
        <p:nvSpPr>
          <p:cNvPr id="11" name="Shape 9"/>
          <p:cNvSpPr/>
          <p:nvPr/>
        </p:nvSpPr>
        <p:spPr>
          <a:xfrm>
            <a:off x="7498080" y="1051560"/>
            <a:ext cx="73152" cy="73152"/>
          </a:xfrm>
          <a:prstGeom prst="ellipse">
            <a:avLst/>
          </a:prstGeom>
          <a:solidFill>
            <a:srgbClr val="00BCD4">
              <a:alpha val="40000"/>
            </a:srgbClr>
          </a:solidFill>
          <a:ln w="12700">
            <a:solidFill>
              <a:srgbClr val="00BCD4">
                <a:alpha val="40000"/>
              </a:srgbClr>
            </a:solidFill>
            <a:prstDash val="solid"/>
          </a:ln>
        </p:spPr>
      </p:sp>
      <p:sp>
        <p:nvSpPr>
          <p:cNvPr id="12" name="Shape 10"/>
          <p:cNvSpPr/>
          <p:nvPr/>
        </p:nvSpPr>
        <p:spPr>
          <a:xfrm>
            <a:off x="8001000" y="1051560"/>
            <a:ext cx="73152" cy="73152"/>
          </a:xfrm>
          <a:prstGeom prst="ellipse">
            <a:avLst/>
          </a:prstGeom>
          <a:solidFill>
            <a:srgbClr val="00BCD4">
              <a:alpha val="40000"/>
            </a:srgbClr>
          </a:solidFill>
          <a:ln w="12700">
            <a:solidFill>
              <a:srgbClr val="00BCD4">
                <a:alpha val="40000"/>
              </a:srgbClr>
            </a:solidFill>
            <a:prstDash val="solid"/>
          </a:ln>
        </p:spPr>
      </p:sp>
      <p:sp>
        <p:nvSpPr>
          <p:cNvPr id="13" name="Shape 11"/>
          <p:cNvSpPr/>
          <p:nvPr/>
        </p:nvSpPr>
        <p:spPr>
          <a:xfrm>
            <a:off x="8503920" y="1051560"/>
            <a:ext cx="73152" cy="73152"/>
          </a:xfrm>
          <a:prstGeom prst="ellipse">
            <a:avLst/>
          </a:prstGeom>
          <a:solidFill>
            <a:srgbClr val="00BCD4">
              <a:alpha val="40000"/>
            </a:srgbClr>
          </a:solidFill>
          <a:ln w="12700">
            <a:solidFill>
              <a:srgbClr val="00BCD4">
                <a:alpha val="40000"/>
              </a:srgbClr>
            </a:solidFill>
            <a:prstDash val="solid"/>
          </a:ln>
        </p:spPr>
      </p:sp>
      <p:sp>
        <p:nvSpPr>
          <p:cNvPr id="14" name="Shape 12"/>
          <p:cNvSpPr/>
          <p:nvPr/>
        </p:nvSpPr>
        <p:spPr>
          <a:xfrm>
            <a:off x="6492240" y="1828800"/>
            <a:ext cx="73152" cy="73152"/>
          </a:xfrm>
          <a:prstGeom prst="ellipse">
            <a:avLst/>
          </a:prstGeom>
          <a:solidFill>
            <a:srgbClr val="00BCD4">
              <a:alpha val="40000"/>
            </a:srgbClr>
          </a:solidFill>
          <a:ln w="12700">
            <a:solidFill>
              <a:srgbClr val="00BCD4">
                <a:alpha val="40000"/>
              </a:srgbClr>
            </a:solidFill>
            <a:prstDash val="solid"/>
          </a:ln>
        </p:spPr>
      </p:sp>
      <p:sp>
        <p:nvSpPr>
          <p:cNvPr id="15" name="Shape 13"/>
          <p:cNvSpPr/>
          <p:nvPr/>
        </p:nvSpPr>
        <p:spPr>
          <a:xfrm>
            <a:off x="6995160" y="1828800"/>
            <a:ext cx="73152" cy="73152"/>
          </a:xfrm>
          <a:prstGeom prst="ellipse">
            <a:avLst/>
          </a:prstGeom>
          <a:solidFill>
            <a:srgbClr val="00BCD4">
              <a:alpha val="40000"/>
            </a:srgbClr>
          </a:solidFill>
          <a:ln w="12700">
            <a:solidFill>
              <a:srgbClr val="00BCD4">
                <a:alpha val="40000"/>
              </a:srgbClr>
            </a:solidFill>
            <a:prstDash val="solid"/>
          </a:ln>
        </p:spPr>
      </p:sp>
      <p:sp>
        <p:nvSpPr>
          <p:cNvPr id="16" name="Shape 14"/>
          <p:cNvSpPr/>
          <p:nvPr/>
        </p:nvSpPr>
        <p:spPr>
          <a:xfrm>
            <a:off x="7498080" y="1828800"/>
            <a:ext cx="73152" cy="73152"/>
          </a:xfrm>
          <a:prstGeom prst="ellipse">
            <a:avLst/>
          </a:prstGeom>
          <a:solidFill>
            <a:srgbClr val="00BCD4">
              <a:alpha val="40000"/>
            </a:srgbClr>
          </a:solidFill>
          <a:ln w="12700">
            <a:solidFill>
              <a:srgbClr val="00BCD4">
                <a:alpha val="40000"/>
              </a:srgbClr>
            </a:solidFill>
            <a:prstDash val="solid"/>
          </a:ln>
        </p:spPr>
      </p:sp>
      <p:sp>
        <p:nvSpPr>
          <p:cNvPr id="17" name="Shape 15"/>
          <p:cNvSpPr/>
          <p:nvPr/>
        </p:nvSpPr>
        <p:spPr>
          <a:xfrm>
            <a:off x="8001000" y="1828800"/>
            <a:ext cx="73152" cy="73152"/>
          </a:xfrm>
          <a:prstGeom prst="ellipse">
            <a:avLst/>
          </a:prstGeom>
          <a:solidFill>
            <a:srgbClr val="00BCD4">
              <a:alpha val="40000"/>
            </a:srgbClr>
          </a:solidFill>
          <a:ln w="12700">
            <a:solidFill>
              <a:srgbClr val="00BCD4">
                <a:alpha val="40000"/>
              </a:srgbClr>
            </a:solidFill>
            <a:prstDash val="solid"/>
          </a:ln>
        </p:spPr>
      </p:sp>
      <p:sp>
        <p:nvSpPr>
          <p:cNvPr id="18" name="Shape 16"/>
          <p:cNvSpPr/>
          <p:nvPr/>
        </p:nvSpPr>
        <p:spPr>
          <a:xfrm>
            <a:off x="8503920" y="1828800"/>
            <a:ext cx="73152" cy="73152"/>
          </a:xfrm>
          <a:prstGeom prst="ellipse">
            <a:avLst/>
          </a:prstGeom>
          <a:solidFill>
            <a:srgbClr val="00BCD4">
              <a:alpha val="40000"/>
            </a:srgbClr>
          </a:solidFill>
          <a:ln w="12700">
            <a:solidFill>
              <a:srgbClr val="00BCD4">
                <a:alpha val="40000"/>
              </a:srgbClr>
            </a:solidFill>
            <a:prstDash val="solid"/>
          </a:ln>
        </p:spPr>
      </p:sp>
      <p:sp>
        <p:nvSpPr>
          <p:cNvPr id="19" name="Shape 17"/>
          <p:cNvSpPr/>
          <p:nvPr/>
        </p:nvSpPr>
        <p:spPr>
          <a:xfrm>
            <a:off x="6492240" y="2606040"/>
            <a:ext cx="73152" cy="73152"/>
          </a:xfrm>
          <a:prstGeom prst="ellipse">
            <a:avLst/>
          </a:prstGeom>
          <a:solidFill>
            <a:srgbClr val="00BCD4">
              <a:alpha val="40000"/>
            </a:srgbClr>
          </a:solidFill>
          <a:ln w="12700">
            <a:solidFill>
              <a:srgbClr val="00BCD4">
                <a:alpha val="40000"/>
              </a:srgbClr>
            </a:solidFill>
            <a:prstDash val="solid"/>
          </a:ln>
        </p:spPr>
      </p:sp>
      <p:sp>
        <p:nvSpPr>
          <p:cNvPr id="20" name="Shape 18"/>
          <p:cNvSpPr/>
          <p:nvPr/>
        </p:nvSpPr>
        <p:spPr>
          <a:xfrm>
            <a:off x="6995160" y="2606040"/>
            <a:ext cx="73152" cy="73152"/>
          </a:xfrm>
          <a:prstGeom prst="ellipse">
            <a:avLst/>
          </a:prstGeom>
          <a:solidFill>
            <a:srgbClr val="00BCD4">
              <a:alpha val="40000"/>
            </a:srgbClr>
          </a:solidFill>
          <a:ln w="12700">
            <a:solidFill>
              <a:srgbClr val="00BCD4">
                <a:alpha val="40000"/>
              </a:srgbClr>
            </a:solidFill>
            <a:prstDash val="solid"/>
          </a:ln>
        </p:spPr>
      </p:sp>
      <p:sp>
        <p:nvSpPr>
          <p:cNvPr id="21" name="Shape 19"/>
          <p:cNvSpPr/>
          <p:nvPr/>
        </p:nvSpPr>
        <p:spPr>
          <a:xfrm>
            <a:off x="7498080" y="2606040"/>
            <a:ext cx="73152" cy="73152"/>
          </a:xfrm>
          <a:prstGeom prst="ellipse">
            <a:avLst/>
          </a:prstGeom>
          <a:solidFill>
            <a:srgbClr val="00BCD4">
              <a:alpha val="40000"/>
            </a:srgbClr>
          </a:solidFill>
          <a:ln w="12700">
            <a:solidFill>
              <a:srgbClr val="00BCD4">
                <a:alpha val="40000"/>
              </a:srgbClr>
            </a:solidFill>
            <a:prstDash val="solid"/>
          </a:ln>
        </p:spPr>
      </p:sp>
      <p:sp>
        <p:nvSpPr>
          <p:cNvPr id="22" name="Shape 20"/>
          <p:cNvSpPr/>
          <p:nvPr/>
        </p:nvSpPr>
        <p:spPr>
          <a:xfrm>
            <a:off x="8001000" y="2606040"/>
            <a:ext cx="73152" cy="73152"/>
          </a:xfrm>
          <a:prstGeom prst="ellipse">
            <a:avLst/>
          </a:prstGeom>
          <a:solidFill>
            <a:srgbClr val="00BCD4">
              <a:alpha val="40000"/>
            </a:srgbClr>
          </a:solidFill>
          <a:ln w="12700">
            <a:solidFill>
              <a:srgbClr val="00BCD4">
                <a:alpha val="40000"/>
              </a:srgbClr>
            </a:solidFill>
            <a:prstDash val="solid"/>
          </a:ln>
        </p:spPr>
      </p:sp>
      <p:sp>
        <p:nvSpPr>
          <p:cNvPr id="23" name="Shape 21"/>
          <p:cNvSpPr/>
          <p:nvPr/>
        </p:nvSpPr>
        <p:spPr>
          <a:xfrm>
            <a:off x="8503920" y="2606040"/>
            <a:ext cx="73152" cy="73152"/>
          </a:xfrm>
          <a:prstGeom prst="ellipse">
            <a:avLst/>
          </a:prstGeom>
          <a:solidFill>
            <a:srgbClr val="00BCD4">
              <a:alpha val="40000"/>
            </a:srgbClr>
          </a:solidFill>
          <a:ln w="12700">
            <a:solidFill>
              <a:srgbClr val="00BCD4">
                <a:alpha val="40000"/>
              </a:srgbClr>
            </a:solidFill>
            <a:prstDash val="solid"/>
          </a:ln>
        </p:spPr>
      </p:sp>
      <p:sp>
        <p:nvSpPr>
          <p:cNvPr id="24" name="Shape 22"/>
          <p:cNvSpPr/>
          <p:nvPr/>
        </p:nvSpPr>
        <p:spPr>
          <a:xfrm>
            <a:off x="6492240" y="3383280"/>
            <a:ext cx="73152" cy="73152"/>
          </a:xfrm>
          <a:prstGeom prst="ellipse">
            <a:avLst/>
          </a:prstGeom>
          <a:solidFill>
            <a:srgbClr val="00BCD4">
              <a:alpha val="40000"/>
            </a:srgbClr>
          </a:solidFill>
          <a:ln w="12700">
            <a:solidFill>
              <a:srgbClr val="00BCD4">
                <a:alpha val="40000"/>
              </a:srgbClr>
            </a:solidFill>
            <a:prstDash val="solid"/>
          </a:ln>
        </p:spPr>
      </p:sp>
      <p:sp>
        <p:nvSpPr>
          <p:cNvPr id="25" name="Shape 23"/>
          <p:cNvSpPr/>
          <p:nvPr/>
        </p:nvSpPr>
        <p:spPr>
          <a:xfrm>
            <a:off x="6995160" y="3383280"/>
            <a:ext cx="73152" cy="73152"/>
          </a:xfrm>
          <a:prstGeom prst="ellipse">
            <a:avLst/>
          </a:prstGeom>
          <a:solidFill>
            <a:srgbClr val="00BCD4">
              <a:alpha val="40000"/>
            </a:srgbClr>
          </a:solidFill>
          <a:ln w="12700">
            <a:solidFill>
              <a:srgbClr val="00BCD4">
                <a:alpha val="40000"/>
              </a:srgbClr>
            </a:solidFill>
            <a:prstDash val="solid"/>
          </a:ln>
        </p:spPr>
      </p:sp>
      <p:sp>
        <p:nvSpPr>
          <p:cNvPr id="26" name="Shape 24"/>
          <p:cNvSpPr/>
          <p:nvPr/>
        </p:nvSpPr>
        <p:spPr>
          <a:xfrm>
            <a:off x="7498080" y="3383280"/>
            <a:ext cx="73152" cy="73152"/>
          </a:xfrm>
          <a:prstGeom prst="ellipse">
            <a:avLst/>
          </a:prstGeom>
          <a:solidFill>
            <a:srgbClr val="00BCD4">
              <a:alpha val="40000"/>
            </a:srgbClr>
          </a:solidFill>
          <a:ln w="12700">
            <a:solidFill>
              <a:srgbClr val="00BCD4">
                <a:alpha val="40000"/>
              </a:srgbClr>
            </a:solidFill>
            <a:prstDash val="solid"/>
          </a:ln>
        </p:spPr>
      </p:sp>
      <p:sp>
        <p:nvSpPr>
          <p:cNvPr id="27" name="Shape 25"/>
          <p:cNvSpPr/>
          <p:nvPr/>
        </p:nvSpPr>
        <p:spPr>
          <a:xfrm>
            <a:off x="8001000" y="3383280"/>
            <a:ext cx="73152" cy="73152"/>
          </a:xfrm>
          <a:prstGeom prst="ellipse">
            <a:avLst/>
          </a:prstGeom>
          <a:solidFill>
            <a:srgbClr val="00BCD4">
              <a:alpha val="40000"/>
            </a:srgbClr>
          </a:solidFill>
          <a:ln w="12700">
            <a:solidFill>
              <a:srgbClr val="00BCD4">
                <a:alpha val="40000"/>
              </a:srgbClr>
            </a:solidFill>
            <a:prstDash val="solid"/>
          </a:ln>
        </p:spPr>
      </p:sp>
      <p:sp>
        <p:nvSpPr>
          <p:cNvPr id="28" name="Shape 26"/>
          <p:cNvSpPr/>
          <p:nvPr/>
        </p:nvSpPr>
        <p:spPr>
          <a:xfrm>
            <a:off x="8503920" y="3383280"/>
            <a:ext cx="73152" cy="73152"/>
          </a:xfrm>
          <a:prstGeom prst="ellipse">
            <a:avLst/>
          </a:prstGeom>
          <a:solidFill>
            <a:srgbClr val="00BCD4">
              <a:alpha val="40000"/>
            </a:srgbClr>
          </a:solidFill>
          <a:ln w="12700">
            <a:solidFill>
              <a:srgbClr val="00BCD4">
                <a:alpha val="40000"/>
              </a:srgbClr>
            </a:solidFill>
            <a:prstDash val="solid"/>
          </a:ln>
        </p:spPr>
      </p:sp>
      <p:sp>
        <p:nvSpPr>
          <p:cNvPr id="29" name="Shape 27"/>
          <p:cNvSpPr/>
          <p:nvPr/>
        </p:nvSpPr>
        <p:spPr>
          <a:xfrm>
            <a:off x="6492240" y="4160520"/>
            <a:ext cx="73152" cy="73152"/>
          </a:xfrm>
          <a:prstGeom prst="ellipse">
            <a:avLst/>
          </a:prstGeom>
          <a:solidFill>
            <a:srgbClr val="00BCD4">
              <a:alpha val="40000"/>
            </a:srgbClr>
          </a:solidFill>
          <a:ln w="12700">
            <a:solidFill>
              <a:srgbClr val="00BCD4">
                <a:alpha val="40000"/>
              </a:srgbClr>
            </a:solidFill>
            <a:prstDash val="solid"/>
          </a:ln>
        </p:spPr>
      </p:sp>
      <p:sp>
        <p:nvSpPr>
          <p:cNvPr id="30" name="Shape 28"/>
          <p:cNvSpPr/>
          <p:nvPr/>
        </p:nvSpPr>
        <p:spPr>
          <a:xfrm>
            <a:off x="6995160" y="4160520"/>
            <a:ext cx="73152" cy="73152"/>
          </a:xfrm>
          <a:prstGeom prst="ellipse">
            <a:avLst/>
          </a:prstGeom>
          <a:solidFill>
            <a:srgbClr val="00BCD4">
              <a:alpha val="40000"/>
            </a:srgbClr>
          </a:solidFill>
          <a:ln w="12700">
            <a:solidFill>
              <a:srgbClr val="00BCD4">
                <a:alpha val="40000"/>
              </a:srgbClr>
            </a:solidFill>
            <a:prstDash val="solid"/>
          </a:ln>
        </p:spPr>
      </p:sp>
      <p:sp>
        <p:nvSpPr>
          <p:cNvPr id="31" name="Shape 29"/>
          <p:cNvSpPr/>
          <p:nvPr/>
        </p:nvSpPr>
        <p:spPr>
          <a:xfrm>
            <a:off x="7498080" y="4160520"/>
            <a:ext cx="73152" cy="73152"/>
          </a:xfrm>
          <a:prstGeom prst="ellipse">
            <a:avLst/>
          </a:prstGeom>
          <a:solidFill>
            <a:srgbClr val="00BCD4">
              <a:alpha val="40000"/>
            </a:srgbClr>
          </a:solidFill>
          <a:ln w="12700">
            <a:solidFill>
              <a:srgbClr val="00BCD4">
                <a:alpha val="40000"/>
              </a:srgbClr>
            </a:solidFill>
            <a:prstDash val="solid"/>
          </a:ln>
        </p:spPr>
      </p:sp>
      <p:sp>
        <p:nvSpPr>
          <p:cNvPr id="32" name="Shape 30"/>
          <p:cNvSpPr/>
          <p:nvPr/>
        </p:nvSpPr>
        <p:spPr>
          <a:xfrm>
            <a:off x="8001000" y="4160520"/>
            <a:ext cx="73152" cy="73152"/>
          </a:xfrm>
          <a:prstGeom prst="ellipse">
            <a:avLst/>
          </a:prstGeom>
          <a:solidFill>
            <a:srgbClr val="00BCD4">
              <a:alpha val="40000"/>
            </a:srgbClr>
          </a:solidFill>
          <a:ln w="12700">
            <a:solidFill>
              <a:srgbClr val="00BCD4">
                <a:alpha val="40000"/>
              </a:srgbClr>
            </a:solidFill>
            <a:prstDash val="solid"/>
          </a:ln>
        </p:spPr>
      </p:sp>
      <p:sp>
        <p:nvSpPr>
          <p:cNvPr id="33" name="Shape 31"/>
          <p:cNvSpPr/>
          <p:nvPr/>
        </p:nvSpPr>
        <p:spPr>
          <a:xfrm>
            <a:off x="8503920" y="4160520"/>
            <a:ext cx="73152" cy="73152"/>
          </a:xfrm>
          <a:prstGeom prst="ellipse">
            <a:avLst/>
          </a:prstGeom>
          <a:solidFill>
            <a:srgbClr val="00BCD4">
              <a:alpha val="40000"/>
            </a:srgbClr>
          </a:solidFill>
          <a:ln w="12700">
            <a:solidFill>
              <a:srgbClr val="00BCD4">
                <a:alpha val="40000"/>
              </a:srgbClr>
            </a:solidFill>
            <a:prstDash val="solid"/>
          </a:ln>
        </p:spPr>
      </p:sp>
      <p:sp>
        <p:nvSpPr>
          <p:cNvPr id="34" name="Text 32"/>
          <p:cNvSpPr/>
          <p:nvPr/>
        </p:nvSpPr>
        <p:spPr>
          <a:xfrm>
            <a:off x="365760" y="1005840"/>
            <a:ext cx="5486400" cy="502920"/>
          </a:xfrm>
          <a:prstGeom prst="rect">
            <a:avLst/>
          </a:prstGeom>
          <a:noFill/>
          <a:ln/>
        </p:spPr>
        <p:txBody>
          <a:bodyPr wrap="square" rtlCol="0" anchor="ctr"/>
          <a:lstStyle/>
          <a:p>
            <a:pPr marL="0" indent="0">
              <a:buNone/>
            </a:pPr>
            <a:r>
              <a:rPr lang="en-US" sz="1000" b="1" kern="0" spc="400" dirty="0">
                <a:solidFill>
                  <a:srgbClr val="00BCD4"/>
                </a:solidFill>
                <a:latin typeface="Calibri" pitchFamily="34" charset="0"/>
                <a:ea typeface="Calibri" pitchFamily="34" charset="-122"/>
                <a:cs typeface="Calibri" pitchFamily="34" charset="-120"/>
              </a:rPr>
              <a:t>SUPPLY CHAIN ANALYTICS</a:t>
            </a:r>
            <a:endParaRPr lang="en-US" sz="1000" dirty="0"/>
          </a:p>
        </p:txBody>
      </p:sp>
      <p:sp>
        <p:nvSpPr>
          <p:cNvPr id="35" name="Text 33"/>
          <p:cNvSpPr/>
          <p:nvPr/>
        </p:nvSpPr>
        <p:spPr>
          <a:xfrm>
            <a:off x="365760" y="1554480"/>
            <a:ext cx="5486400" cy="137160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Business Performance &amp;</a:t>
            </a:r>
            <a:endParaRPr lang="en-US" sz="3000" dirty="0"/>
          </a:p>
          <a:p>
            <a:pPr marL="0" indent="0">
              <a:buNone/>
            </a:pPr>
            <a:r>
              <a:rPr lang="en-US" sz="3000" b="1" dirty="0">
                <a:solidFill>
                  <a:srgbClr val="FFFFFF"/>
                </a:solidFill>
                <a:latin typeface="Calibri" pitchFamily="34" charset="0"/>
                <a:ea typeface="Calibri" pitchFamily="34" charset="-122"/>
                <a:cs typeface="Calibri" pitchFamily="34" charset="-120"/>
              </a:rPr>
              <a:t>Customer Behavior Analysis</a:t>
            </a:r>
            <a:endParaRPr lang="en-US" sz="3000" dirty="0"/>
          </a:p>
        </p:txBody>
      </p:sp>
      <p:sp>
        <p:nvSpPr>
          <p:cNvPr id="36" name="Text 34"/>
          <p:cNvSpPr/>
          <p:nvPr/>
        </p:nvSpPr>
        <p:spPr>
          <a:xfrm>
            <a:off x="365760" y="3017520"/>
            <a:ext cx="5029200" cy="365760"/>
          </a:xfrm>
          <a:prstGeom prst="rect">
            <a:avLst/>
          </a:prstGeom>
          <a:noFill/>
          <a:ln/>
        </p:spPr>
        <p:txBody>
          <a:bodyPr wrap="square" rtlCol="0" anchor="ctr"/>
          <a:lstStyle/>
          <a:p>
            <a:pPr marL="0" indent="0">
              <a:buNone/>
            </a:pPr>
            <a:r>
              <a:rPr lang="en-US" sz="1100" i="1" dirty="0">
                <a:solidFill>
                  <a:srgbClr val="00BCD4"/>
                </a:solidFill>
                <a:latin typeface="Calibri" pitchFamily="34" charset="0"/>
                <a:ea typeface="Calibri" pitchFamily="34" charset="-122"/>
                <a:cs typeface="Calibri" pitchFamily="34" charset="-120"/>
              </a:rPr>
              <a:t>Using SQL · Python · Pandas · Seaborn</a:t>
            </a:r>
            <a:endParaRPr lang="en-US" sz="1100" dirty="0"/>
          </a:p>
        </p:txBody>
      </p:sp>
      <p:sp>
        <p:nvSpPr>
          <p:cNvPr id="37" name="Text 35"/>
          <p:cNvSpPr/>
          <p:nvPr/>
        </p:nvSpPr>
        <p:spPr>
          <a:xfrm>
            <a:off x="365760" y="3520440"/>
            <a:ext cx="5486400" cy="1371600"/>
          </a:xfrm>
          <a:prstGeom prst="rect">
            <a:avLst/>
          </a:prstGeom>
          <a:noFill/>
          <a:ln/>
        </p:spPr>
        <p:txBody>
          <a:bodyPr wrap="square" rtlCol="0" anchor="ctr"/>
          <a:lstStyle/>
          <a:p>
            <a:pPr marL="342900" indent="-342900">
              <a:buSzPct val="100000"/>
              <a:buChar char="•"/>
            </a:pPr>
            <a:r>
              <a:rPr lang="en-US" sz="1600" dirty="0">
                <a:solidFill>
                  <a:srgbClr val="B0C4DE"/>
                </a:solidFill>
                <a:latin typeface="Calibri" pitchFamily="34" charset="0"/>
                <a:ea typeface="Calibri" pitchFamily="34" charset="-122"/>
                <a:cs typeface="Calibri" pitchFamily="34" charset="-120"/>
              </a:rPr>
              <a:t>Data stored in MySQL: commodities_supply</a:t>
            </a:r>
            <a:endParaRPr lang="en-US" sz="1600" dirty="0"/>
          </a:p>
          <a:p>
            <a:pPr marL="342900" indent="-342900">
              <a:buSzPct val="100000"/>
              <a:buChar char="•"/>
            </a:pPr>
            <a:r>
              <a:rPr lang="en-US" sz="1600" dirty="0">
                <a:solidFill>
                  <a:srgbClr val="B0C4DE"/>
                </a:solidFill>
                <a:latin typeface="Calibri" pitchFamily="34" charset="0"/>
                <a:ea typeface="Calibri" pitchFamily="34" charset="-122"/>
                <a:cs typeface="Calibri" pitchFamily="34" charset="-120"/>
              </a:rPr>
              <a:t>Python connected via mysql.connector</a:t>
            </a:r>
            <a:endParaRPr lang="en-US" sz="1600" dirty="0"/>
          </a:p>
          <a:p>
            <a:pPr marL="342900" indent="-342900">
              <a:buSzPct val="100000"/>
              <a:buChar char="•"/>
            </a:pPr>
            <a:r>
              <a:rPr lang="en-US" sz="1600" dirty="0">
                <a:solidFill>
                  <a:srgbClr val="B0C4DE"/>
                </a:solidFill>
                <a:latin typeface="Calibri" pitchFamily="34" charset="0"/>
                <a:ea typeface="Calibri" pitchFamily="34" charset="-122"/>
                <a:cs typeface="Calibri" pitchFamily="34" charset="-120"/>
              </a:rPr>
              <a:t>EDA: Univariate · Bivariate · Multivariate</a:t>
            </a:r>
            <a:endParaRPr lang="en-US" sz="1600" dirty="0"/>
          </a:p>
          <a:p>
            <a:pPr marL="342900" indent="-342900">
              <a:buSzPct val="100000"/>
              <a:buChar char="•"/>
            </a:pPr>
            <a:r>
              <a:rPr lang="en-US" sz="1600" dirty="0">
                <a:solidFill>
                  <a:srgbClr val="B0C4DE"/>
                </a:solidFill>
                <a:latin typeface="Calibri" pitchFamily="34" charset="0"/>
                <a:ea typeface="Calibri" pitchFamily="34" charset="-122"/>
                <a:cs typeface="Calibri" pitchFamily="34" charset="-120"/>
              </a:rPr>
              <a:t>Goal: Actionable supply chain insights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B4E"/>
          </a:solidFill>
          <a:ln w="12700">
            <a:solidFill>
              <a:srgbClr val="0D2B4E"/>
            </a:solidFill>
            <a:prstDash val="solid"/>
          </a:ln>
        </p:spPr>
      </p:sp>
      <p:sp>
        <p:nvSpPr>
          <p:cNvPr id="3" name="Text 1"/>
          <p:cNvSpPr/>
          <p:nvPr/>
        </p:nvSpPr>
        <p:spPr>
          <a:xfrm>
            <a:off x="274320" y="0"/>
            <a:ext cx="3657600" cy="594360"/>
          </a:xfrm>
          <a:prstGeom prst="rect">
            <a:avLst/>
          </a:prstGeom>
          <a:noFill/>
          <a:ln/>
        </p:spPr>
        <p:txBody>
          <a:bodyPr wrap="square" rtlCol="0" anchor="ctr"/>
          <a:lstStyle/>
          <a:p>
            <a:pPr marL="0" indent="0">
              <a:buNone/>
            </a:pPr>
            <a:r>
              <a:rPr lang="en-US" sz="900" b="1" kern="0" spc="300" dirty="0">
                <a:solidFill>
                  <a:srgbClr val="00BCD4"/>
                </a:solidFill>
                <a:latin typeface="Calibri" pitchFamily="34" charset="0"/>
                <a:ea typeface="Calibri" pitchFamily="34" charset="-122"/>
                <a:cs typeface="Calibri" pitchFamily="34" charset="-120"/>
              </a:rPr>
              <a:t>UNIVARIATE ANALYSIS 1</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Sales Distribution</a:t>
            </a:r>
            <a:endParaRPr lang="en-US" sz="20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What is the overall distribution of sales across customer orders, and are there any significant spending patterns?  Does the business rely heavily on a small number of high-value transactions for revenue generation?</a:t>
            </a:r>
            <a:endParaRPr lang="en-US" sz="1000" dirty="0"/>
          </a:p>
        </p:txBody>
      </p:sp>
      <p:sp>
        <p:nvSpPr>
          <p:cNvPr id="7" name="Shape 5"/>
          <p:cNvSpPr/>
          <p:nvPr/>
        </p:nvSpPr>
        <p:spPr>
          <a:xfrm>
            <a:off x="274320" y="1627632"/>
            <a:ext cx="429768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1565C0"/>
          </a:solidFill>
          <a:ln w="12700">
            <a:solidFill>
              <a:srgbClr val="1565C0"/>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  Concentrated Transactions</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Most sales transactions were concentrated within a specific sales range, indicating common purchasing behavior among customers.</a:t>
            </a:r>
            <a:endParaRPr lang="en-US" sz="950" dirty="0"/>
          </a:p>
        </p:txBody>
      </p:sp>
      <p:sp>
        <p:nvSpPr>
          <p:cNvPr id="11" name="Shape 9"/>
          <p:cNvSpPr/>
          <p:nvPr/>
        </p:nvSpPr>
        <p:spPr>
          <a:xfrm>
            <a:off x="4937760" y="1627632"/>
            <a:ext cx="393192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flipH="1">
            <a:off x="4818888" y="1627632"/>
            <a:ext cx="73152"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Positively Skewed Revenue</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A small number of high-value orders contributed disproportionately to total revenue, resulting in a positively skewed distribution.</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4663440" cy="365760"/>
          </a:xfrm>
          <a:prstGeom prst="rect">
            <a:avLst/>
          </a:prstGeom>
          <a:solidFill>
            <a:srgbClr val="E3F2FD"/>
          </a:solidFill>
          <a:ln w="12700">
            <a:solidFill>
              <a:srgbClr val="00BCD4"/>
            </a:solidFill>
            <a:prstDash val="solid"/>
          </a:ln>
        </p:spPr>
      </p:sp>
      <p:sp>
        <p:nvSpPr>
          <p:cNvPr id="17" name="Text 15"/>
          <p:cNvSpPr/>
          <p:nvPr/>
        </p:nvSpPr>
        <p:spPr>
          <a:xfrm>
            <a:off x="274320" y="3383280"/>
            <a:ext cx="4297680" cy="365760"/>
          </a:xfrm>
          <a:prstGeom prst="rect">
            <a:avLst/>
          </a:prstGeom>
          <a:noFill/>
          <a:ln/>
        </p:spPr>
        <p:txBody>
          <a:bodyPr wrap="square" rtlCol="0" anchor="ctr"/>
          <a:lstStyle/>
          <a:p>
            <a:pPr marL="0" indent="0">
              <a:buNone/>
            </a:pPr>
            <a:r>
              <a:rPr lang="en-US" sz="800" dirty="0">
                <a:solidFill>
                  <a:srgbClr val="1565C0"/>
                </a:solidFill>
                <a:latin typeface="Calibri" pitchFamily="34" charset="0"/>
                <a:ea typeface="Calibri" pitchFamily="34" charset="-122"/>
                <a:cs typeface="Calibri" pitchFamily="34" charset="-120"/>
              </a:rPr>
              <a:t>→  Develop targeted retention strategies for customers who consistently place high-value orders.</a:t>
            </a:r>
            <a:endParaRPr lang="en-US" sz="800" dirty="0"/>
          </a:p>
        </p:txBody>
      </p:sp>
      <p:sp>
        <p:nvSpPr>
          <p:cNvPr id="18" name="Shape 16"/>
          <p:cNvSpPr/>
          <p:nvPr/>
        </p:nvSpPr>
        <p:spPr>
          <a:xfrm>
            <a:off x="274320" y="3785616"/>
            <a:ext cx="4663440" cy="365760"/>
          </a:xfrm>
          <a:prstGeom prst="rect">
            <a:avLst/>
          </a:prstGeom>
          <a:solidFill>
            <a:srgbClr val="E3F2FD"/>
          </a:solidFill>
          <a:ln w="12700">
            <a:solidFill>
              <a:srgbClr val="00BCD4"/>
            </a:solidFill>
            <a:prstDash val="solid"/>
          </a:ln>
        </p:spPr>
      </p:sp>
      <p:sp>
        <p:nvSpPr>
          <p:cNvPr id="19" name="Text 17"/>
          <p:cNvSpPr/>
          <p:nvPr/>
        </p:nvSpPr>
        <p:spPr>
          <a:xfrm>
            <a:off x="365760" y="3785616"/>
            <a:ext cx="4329332" cy="365760"/>
          </a:xfrm>
          <a:prstGeom prst="rect">
            <a:avLst/>
          </a:prstGeom>
          <a:noFill/>
          <a:ln/>
        </p:spPr>
        <p:txBody>
          <a:bodyPr wrap="square" rtlCol="0" anchor="ctr"/>
          <a:lstStyle/>
          <a:p>
            <a:pPr marL="0" indent="0">
              <a:buNone/>
            </a:pPr>
            <a:r>
              <a:rPr lang="en-US" sz="900" dirty="0">
                <a:solidFill>
                  <a:srgbClr val="1565C0"/>
                </a:solidFill>
                <a:latin typeface="Calibri" pitchFamily="34" charset="0"/>
                <a:ea typeface="Calibri" pitchFamily="34" charset="-122"/>
                <a:cs typeface="Calibri" pitchFamily="34" charset="-120"/>
              </a:rPr>
              <a:t>→  Use customer segmentation to create personalized marketing campaigns that encourage larger purchases.</a:t>
            </a:r>
            <a:endParaRPr lang="en-US" sz="900" dirty="0"/>
          </a:p>
        </p:txBody>
      </p:sp>
      <p:pic>
        <p:nvPicPr>
          <p:cNvPr id="23" name="Picture 22">
            <a:extLst>
              <a:ext uri="{FF2B5EF4-FFF2-40B4-BE49-F238E27FC236}">
                <a16:creationId xmlns:a16="http://schemas.microsoft.com/office/drawing/2014/main" id="{057BBEF5-E2A3-9594-34CC-43D362090778}"/>
              </a:ext>
            </a:extLst>
          </p:cNvPr>
          <p:cNvPicPr>
            <a:picLocks noChangeAspect="1"/>
          </p:cNvPicPr>
          <p:nvPr/>
        </p:nvPicPr>
        <p:blipFill>
          <a:blip r:embed="rId3"/>
          <a:stretch>
            <a:fillRect/>
          </a:stretch>
        </p:blipFill>
        <p:spPr>
          <a:xfrm>
            <a:off x="6457615" y="3026664"/>
            <a:ext cx="2594946" cy="1858845"/>
          </a:xfrm>
          <a:prstGeom prst="rect">
            <a:avLst/>
          </a:prstGeom>
        </p:spPr>
      </p:pic>
      <p:pic>
        <p:nvPicPr>
          <p:cNvPr id="25" name="Picture 24">
            <a:extLst>
              <a:ext uri="{FF2B5EF4-FFF2-40B4-BE49-F238E27FC236}">
                <a16:creationId xmlns:a16="http://schemas.microsoft.com/office/drawing/2014/main" id="{FAC8AB11-9E5A-A01A-90C0-A983DDAAE50B}"/>
              </a:ext>
            </a:extLst>
          </p:cNvPr>
          <p:cNvPicPr>
            <a:picLocks noChangeAspect="1"/>
          </p:cNvPicPr>
          <p:nvPr/>
        </p:nvPicPr>
        <p:blipFill>
          <a:blip r:embed="rId4"/>
          <a:stretch>
            <a:fillRect/>
          </a:stretch>
        </p:blipFill>
        <p:spPr>
          <a:xfrm>
            <a:off x="5029198" y="3366733"/>
            <a:ext cx="1336979" cy="12931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B4E"/>
          </a:solidFill>
          <a:ln w="12700">
            <a:solidFill>
              <a:srgbClr val="0D2B4E"/>
            </a:solidFill>
            <a:prstDash val="solid"/>
          </a:ln>
        </p:spPr>
      </p:sp>
      <p:sp>
        <p:nvSpPr>
          <p:cNvPr id="3" name="Text 1"/>
          <p:cNvSpPr/>
          <p:nvPr/>
        </p:nvSpPr>
        <p:spPr>
          <a:xfrm>
            <a:off x="274320" y="0"/>
            <a:ext cx="3657600" cy="594360"/>
          </a:xfrm>
          <a:prstGeom prst="rect">
            <a:avLst/>
          </a:prstGeom>
          <a:noFill/>
          <a:ln/>
        </p:spPr>
        <p:txBody>
          <a:bodyPr wrap="square" rtlCol="0" anchor="ctr"/>
          <a:lstStyle/>
          <a:p>
            <a:pPr marL="0" indent="0">
              <a:buNone/>
            </a:pPr>
            <a:r>
              <a:rPr lang="en-US" sz="900" b="1" kern="0" spc="300" dirty="0">
                <a:solidFill>
                  <a:srgbClr val="00BCD4"/>
                </a:solidFill>
                <a:latin typeface="Calibri" pitchFamily="34" charset="0"/>
                <a:ea typeface="Calibri" pitchFamily="34" charset="-122"/>
                <a:cs typeface="Calibri" pitchFamily="34" charset="-120"/>
              </a:rPr>
              <a:t>UNIVARIATE ANALYSIS 2</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Shipping Mode Usage</a:t>
            </a:r>
            <a:endParaRPr lang="en-US" sz="20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Which shipping method is most preferred by customers when placing orders? How can shipping preferences help improve logistics planning and resource allocation?</a:t>
            </a:r>
            <a:endParaRPr lang="en-US" sz="1000" dirty="0"/>
          </a:p>
        </p:txBody>
      </p:sp>
      <p:sp>
        <p:nvSpPr>
          <p:cNvPr id="7" name="Shape 5"/>
          <p:cNvSpPr/>
          <p:nvPr/>
        </p:nvSpPr>
        <p:spPr>
          <a:xfrm>
            <a:off x="27432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1565C0"/>
          </a:solidFill>
          <a:ln w="12700">
            <a:solidFill>
              <a:srgbClr val="1565C0"/>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  Dominant Shipping Mode</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One shipping mode accounted for the majority of customer orders, demonstrating a strong and clear customer preference.</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Uneven Utilization</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Several shipping methods had relatively low utilization, indicating uneven demand distribution across delivery options.</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4933406"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Allocate additional logistics resources to support the most frequently used shipping method.</a:t>
            </a:r>
            <a:endParaRPr lang="en-US" sz="950" dirty="0"/>
          </a:p>
        </p:txBody>
      </p:sp>
      <p:sp>
        <p:nvSpPr>
          <p:cNvPr id="18" name="Shape 16"/>
          <p:cNvSpPr/>
          <p:nvPr/>
        </p:nvSpPr>
        <p:spPr>
          <a:xfrm>
            <a:off x="274320" y="3785616"/>
            <a:ext cx="4933406" cy="365760"/>
          </a:xfrm>
          <a:prstGeom prst="rect">
            <a:avLst/>
          </a:prstGeom>
          <a:solidFill>
            <a:srgbClr val="E3F2FD"/>
          </a:solidFill>
          <a:ln w="12700">
            <a:solidFill>
              <a:srgbClr val="00BCD4"/>
            </a:solidFill>
            <a:prstDash val="solid"/>
          </a:ln>
        </p:spPr>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Promote underutilized delivery options through incentives or discounted shipping offers.</a:t>
            </a:r>
            <a:endParaRPr lang="en-US" sz="950" dirty="0"/>
          </a:p>
        </p:txBody>
      </p:sp>
      <p:pic>
        <p:nvPicPr>
          <p:cNvPr id="21" name="Picture 20">
            <a:extLst>
              <a:ext uri="{FF2B5EF4-FFF2-40B4-BE49-F238E27FC236}">
                <a16:creationId xmlns:a16="http://schemas.microsoft.com/office/drawing/2014/main" id="{39A10347-629A-D55C-03E1-B5C7C94A9D9A}"/>
              </a:ext>
            </a:extLst>
          </p:cNvPr>
          <p:cNvPicPr>
            <a:picLocks noChangeAspect="1"/>
          </p:cNvPicPr>
          <p:nvPr/>
        </p:nvPicPr>
        <p:blipFill>
          <a:blip r:embed="rId3"/>
          <a:stretch>
            <a:fillRect/>
          </a:stretch>
        </p:blipFill>
        <p:spPr>
          <a:xfrm>
            <a:off x="5299166" y="2926080"/>
            <a:ext cx="2399211" cy="2017885"/>
          </a:xfrm>
          <a:prstGeom prst="rect">
            <a:avLst/>
          </a:prstGeom>
        </p:spPr>
      </p:pic>
      <p:pic>
        <p:nvPicPr>
          <p:cNvPr id="23" name="Picture 22">
            <a:extLst>
              <a:ext uri="{FF2B5EF4-FFF2-40B4-BE49-F238E27FC236}">
                <a16:creationId xmlns:a16="http://schemas.microsoft.com/office/drawing/2014/main" id="{D0E0CEA1-7300-EA02-CCC7-2F17C424B4F0}"/>
              </a:ext>
            </a:extLst>
          </p:cNvPr>
          <p:cNvPicPr>
            <a:picLocks noChangeAspect="1"/>
          </p:cNvPicPr>
          <p:nvPr/>
        </p:nvPicPr>
        <p:blipFill>
          <a:blip r:embed="rId4"/>
          <a:stretch>
            <a:fillRect/>
          </a:stretch>
        </p:blipFill>
        <p:spPr>
          <a:xfrm>
            <a:off x="7789817" y="3274795"/>
            <a:ext cx="1232263" cy="15082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B4E"/>
          </a:solidFill>
          <a:ln w="12700">
            <a:solidFill>
              <a:srgbClr val="0D2B4E"/>
            </a:solidFill>
            <a:prstDash val="solid"/>
          </a:ln>
        </p:spPr>
      </p:sp>
      <p:sp>
        <p:nvSpPr>
          <p:cNvPr id="3" name="Text 1"/>
          <p:cNvSpPr/>
          <p:nvPr/>
        </p:nvSpPr>
        <p:spPr>
          <a:xfrm>
            <a:off x="274320" y="0"/>
            <a:ext cx="3657600" cy="594360"/>
          </a:xfrm>
          <a:prstGeom prst="rect">
            <a:avLst/>
          </a:prstGeom>
          <a:noFill/>
          <a:ln/>
        </p:spPr>
        <p:txBody>
          <a:bodyPr wrap="square" rtlCol="0" anchor="ctr"/>
          <a:lstStyle/>
          <a:p>
            <a:pPr marL="0" indent="0">
              <a:buNone/>
            </a:pPr>
            <a:r>
              <a:rPr lang="en-US" sz="900" b="1" kern="0" spc="300" dirty="0">
                <a:solidFill>
                  <a:srgbClr val="F9A825"/>
                </a:solidFill>
                <a:latin typeface="Calibri" pitchFamily="34" charset="0"/>
                <a:ea typeface="Calibri" pitchFamily="34" charset="-122"/>
                <a:cs typeface="Calibri" pitchFamily="34" charset="-120"/>
              </a:rPr>
              <a:t>BIVARIATE ANALYSIS 1</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Shipping Mode vs Sales</a:t>
            </a:r>
            <a:endParaRPr lang="en-US" sz="20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Does customer spending vary depending on the shipping method selected? Which shipping modes are associated with the highest revenue generation?</a:t>
            </a:r>
            <a:endParaRPr lang="en-US" sz="1000" dirty="0"/>
          </a:p>
        </p:txBody>
      </p:sp>
      <p:sp>
        <p:nvSpPr>
          <p:cNvPr id="7" name="Shape 5"/>
          <p:cNvSpPr/>
          <p:nvPr/>
        </p:nvSpPr>
        <p:spPr>
          <a:xfrm>
            <a:off x="27432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1565C0"/>
          </a:solidFill>
          <a:ln w="12700">
            <a:solidFill>
              <a:srgbClr val="1565C0"/>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  Higher Sales per Mode</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Certain shipping methods produced significantly higher average sales values compared to others.</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Premium Delivery Behavior</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Customers selecting premium delivery options generally placed larger orders, linking delivery choice to spending level.</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19" y="3364992"/>
            <a:ext cx="4617719"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Promote high-performing shipping methods through targeted marketing campaigns.</a:t>
            </a:r>
            <a:endParaRPr lang="en-US" sz="950" dirty="0"/>
          </a:p>
        </p:txBody>
      </p:sp>
      <p:sp>
        <p:nvSpPr>
          <p:cNvPr id="18" name="Shape 16"/>
          <p:cNvSpPr/>
          <p:nvPr/>
        </p:nvSpPr>
        <p:spPr>
          <a:xfrm>
            <a:off x="274320" y="3785616"/>
            <a:ext cx="4617719" cy="365760"/>
          </a:xfrm>
          <a:prstGeom prst="rect">
            <a:avLst/>
          </a:prstGeom>
          <a:solidFill>
            <a:srgbClr val="E3F2FD"/>
          </a:solidFill>
          <a:ln w="12700">
            <a:solidFill>
              <a:srgbClr val="00BCD4"/>
            </a:solidFill>
            <a:prstDash val="solid"/>
          </a:ln>
        </p:spPr>
        <p:txBody>
          <a:bodyPr/>
          <a:lstStyle/>
          <a:p>
            <a:endParaRPr lang="en-US" dirty="0"/>
          </a:p>
        </p:txBody>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00" dirty="0">
                <a:solidFill>
                  <a:srgbClr val="1565C0"/>
                </a:solidFill>
                <a:latin typeface="Calibri" pitchFamily="34" charset="0"/>
                <a:ea typeface="Calibri" pitchFamily="34" charset="-122"/>
                <a:cs typeface="Calibri" pitchFamily="34" charset="-120"/>
              </a:rPr>
              <a:t>→  Bundle premium delivery services with high-value products to encourage larger purchases.</a:t>
            </a:r>
            <a:endParaRPr lang="en-US" sz="900" dirty="0"/>
          </a:p>
        </p:txBody>
      </p:sp>
      <p:pic>
        <p:nvPicPr>
          <p:cNvPr id="21" name="Picture 20">
            <a:extLst>
              <a:ext uri="{FF2B5EF4-FFF2-40B4-BE49-F238E27FC236}">
                <a16:creationId xmlns:a16="http://schemas.microsoft.com/office/drawing/2014/main" id="{5C9E5A46-4799-05A8-0626-297E9996F2A3}"/>
              </a:ext>
            </a:extLst>
          </p:cNvPr>
          <p:cNvPicPr>
            <a:picLocks noChangeAspect="1"/>
          </p:cNvPicPr>
          <p:nvPr/>
        </p:nvPicPr>
        <p:blipFill>
          <a:blip r:embed="rId3"/>
          <a:stretch>
            <a:fillRect/>
          </a:stretch>
        </p:blipFill>
        <p:spPr>
          <a:xfrm>
            <a:off x="6380991" y="2999232"/>
            <a:ext cx="2442969" cy="1890937"/>
          </a:xfrm>
          <a:prstGeom prst="rect">
            <a:avLst/>
          </a:prstGeom>
        </p:spPr>
      </p:pic>
      <p:pic>
        <p:nvPicPr>
          <p:cNvPr id="23" name="Picture 22">
            <a:extLst>
              <a:ext uri="{FF2B5EF4-FFF2-40B4-BE49-F238E27FC236}">
                <a16:creationId xmlns:a16="http://schemas.microsoft.com/office/drawing/2014/main" id="{3386DB0F-6DD5-0793-F4DA-D35A6F356237}"/>
              </a:ext>
            </a:extLst>
          </p:cNvPr>
          <p:cNvPicPr>
            <a:picLocks noChangeAspect="1"/>
          </p:cNvPicPr>
          <p:nvPr/>
        </p:nvPicPr>
        <p:blipFill>
          <a:blip r:embed="rId4"/>
          <a:stretch>
            <a:fillRect/>
          </a:stretch>
        </p:blipFill>
        <p:spPr>
          <a:xfrm>
            <a:off x="4960617" y="3276600"/>
            <a:ext cx="1351793" cy="12131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B4E"/>
          </a:solidFill>
          <a:ln w="12700">
            <a:solidFill>
              <a:srgbClr val="0D2B4E"/>
            </a:solidFill>
            <a:prstDash val="solid"/>
          </a:ln>
        </p:spPr>
      </p:sp>
      <p:sp>
        <p:nvSpPr>
          <p:cNvPr id="3" name="Text 1"/>
          <p:cNvSpPr/>
          <p:nvPr/>
        </p:nvSpPr>
        <p:spPr>
          <a:xfrm>
            <a:off x="274320" y="0"/>
            <a:ext cx="3657600" cy="594360"/>
          </a:xfrm>
          <a:prstGeom prst="rect">
            <a:avLst/>
          </a:prstGeom>
          <a:noFill/>
          <a:ln/>
        </p:spPr>
        <p:txBody>
          <a:bodyPr wrap="square" rtlCol="0" anchor="ctr"/>
          <a:lstStyle/>
          <a:p>
            <a:pPr marL="0" indent="0">
              <a:buNone/>
            </a:pPr>
            <a:r>
              <a:rPr lang="en-US" sz="900" b="1" kern="0" spc="300" dirty="0">
                <a:solidFill>
                  <a:srgbClr val="F9A825"/>
                </a:solidFill>
                <a:latin typeface="Calibri" pitchFamily="34" charset="0"/>
                <a:ea typeface="Calibri" pitchFamily="34" charset="-122"/>
                <a:cs typeface="Calibri" pitchFamily="34" charset="-120"/>
              </a:rPr>
              <a:t>BIVARIATE ANALYSIS 2</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Order Status vs Sales</a:t>
            </a:r>
            <a:endParaRPr lang="en-US" sz="20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How do different order outcomes impact overall revenue generation? What financial impact do cancelled orders have on the business?</a:t>
            </a:r>
            <a:endParaRPr lang="en-US" sz="1000" dirty="0"/>
          </a:p>
        </p:txBody>
      </p:sp>
      <p:sp>
        <p:nvSpPr>
          <p:cNvPr id="7" name="Shape 5"/>
          <p:cNvSpPr/>
          <p:nvPr/>
        </p:nvSpPr>
        <p:spPr>
          <a:xfrm>
            <a:off x="27432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1565C0"/>
          </a:solidFill>
          <a:ln w="12700">
            <a:solidFill>
              <a:srgbClr val="1565C0"/>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  Completed Orders Drive Revenue</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Completed orders contributed the majority of total sales revenue, forming the backbone of business income.</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C62828"/>
          </a:solidFill>
          <a:ln w="12700">
            <a:solidFill>
              <a:srgbClr val="C62828"/>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C62828"/>
                </a:solidFill>
                <a:latin typeface="Calibri" pitchFamily="34" charset="0"/>
                <a:ea typeface="Calibri" pitchFamily="34" charset="-122"/>
                <a:cs typeface="Calibri" pitchFamily="34" charset="-120"/>
              </a:rPr>
              <a:t>⚠️  Cancellations = Lost Revenue</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Cancelled orders represented a significant loss of potential revenue and missed business opportunities.</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4617720"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Investigate the main causes of order cancellations and implement corrective measures.</a:t>
            </a:r>
            <a:endParaRPr lang="en-US" sz="950" dirty="0"/>
          </a:p>
        </p:txBody>
      </p:sp>
      <p:sp>
        <p:nvSpPr>
          <p:cNvPr id="18" name="Shape 16"/>
          <p:cNvSpPr/>
          <p:nvPr/>
        </p:nvSpPr>
        <p:spPr>
          <a:xfrm>
            <a:off x="274320" y="3785616"/>
            <a:ext cx="4617720" cy="365760"/>
          </a:xfrm>
          <a:prstGeom prst="rect">
            <a:avLst/>
          </a:prstGeom>
          <a:solidFill>
            <a:srgbClr val="E3F2FD"/>
          </a:solidFill>
          <a:ln w="12700">
            <a:solidFill>
              <a:srgbClr val="00BCD4"/>
            </a:solidFill>
            <a:prstDash val="solid"/>
          </a:ln>
        </p:spPr>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Improve customer communication and order tracking to increase completion rates.</a:t>
            </a:r>
            <a:endParaRPr lang="en-US" sz="950" dirty="0"/>
          </a:p>
        </p:txBody>
      </p:sp>
      <p:pic>
        <p:nvPicPr>
          <p:cNvPr id="21" name="Picture 20">
            <a:extLst>
              <a:ext uri="{FF2B5EF4-FFF2-40B4-BE49-F238E27FC236}">
                <a16:creationId xmlns:a16="http://schemas.microsoft.com/office/drawing/2014/main" id="{69EABDB4-420D-7A4A-8108-A3501E638646}"/>
              </a:ext>
            </a:extLst>
          </p:cNvPr>
          <p:cNvPicPr>
            <a:picLocks noChangeAspect="1"/>
          </p:cNvPicPr>
          <p:nvPr/>
        </p:nvPicPr>
        <p:blipFill>
          <a:blip r:embed="rId3"/>
          <a:stretch>
            <a:fillRect/>
          </a:stretch>
        </p:blipFill>
        <p:spPr>
          <a:xfrm>
            <a:off x="5098869" y="3006199"/>
            <a:ext cx="3770811" cy="192459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0D2B4E"/>
          </a:solidFill>
          <a:ln w="12700">
            <a:solidFill>
              <a:srgbClr val="0D2B4E"/>
            </a:solidFill>
            <a:prstDash val="solid"/>
          </a:ln>
        </p:spPr>
      </p:sp>
      <p:sp>
        <p:nvSpPr>
          <p:cNvPr id="3" name="Text 1"/>
          <p:cNvSpPr/>
          <p:nvPr/>
        </p:nvSpPr>
        <p:spPr>
          <a:xfrm>
            <a:off x="274320" y="0"/>
            <a:ext cx="3657600" cy="594360"/>
          </a:xfrm>
          <a:prstGeom prst="rect">
            <a:avLst/>
          </a:prstGeom>
          <a:noFill/>
          <a:ln/>
        </p:spPr>
        <p:txBody>
          <a:bodyPr wrap="square" rtlCol="0" anchor="ctr"/>
          <a:lstStyle/>
          <a:p>
            <a:pPr marL="0" indent="0">
              <a:buNone/>
            </a:pPr>
            <a:r>
              <a:rPr lang="en-US" sz="900" b="1" kern="0" spc="300" dirty="0">
                <a:solidFill>
                  <a:srgbClr val="F9A825"/>
                </a:solidFill>
                <a:latin typeface="Calibri" pitchFamily="34" charset="0"/>
                <a:ea typeface="Calibri" pitchFamily="34" charset="-122"/>
                <a:cs typeface="Calibri" pitchFamily="34" charset="-120"/>
              </a:rPr>
              <a:t>BIVARIATE ANALYSIS 3</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2000" b="1" dirty="0">
                <a:solidFill>
                  <a:srgbClr val="FFFFFF"/>
                </a:solidFill>
                <a:latin typeface="Calibri" pitchFamily="34" charset="0"/>
                <a:ea typeface="Calibri" pitchFamily="34" charset="-122"/>
                <a:cs typeface="Calibri" pitchFamily="34" charset="-120"/>
              </a:rPr>
              <a:t>State vs Order Volume</a:t>
            </a:r>
            <a:endParaRPr lang="en-US" sz="20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Which states generate the highest customer demand and order volumes? Where should the company focus its marketing and operational resources?</a:t>
            </a:r>
            <a:endParaRPr lang="en-US" sz="1000" dirty="0"/>
          </a:p>
        </p:txBody>
      </p:sp>
      <p:sp>
        <p:nvSpPr>
          <p:cNvPr id="7" name="Shape 5"/>
          <p:cNvSpPr/>
          <p:nvPr/>
        </p:nvSpPr>
        <p:spPr>
          <a:xfrm>
            <a:off x="27432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1565C0"/>
          </a:solidFill>
          <a:ln w="12700">
            <a:solidFill>
              <a:srgbClr val="1565C0"/>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  High-Demand States Dominate</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A small number of states contributed a large proportion of total orders, driving most business demand.</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Regional Demand Variation</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Customer demand varied considerably across geographic regions, revealing distinct regional market opportunities.</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4297680"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Increase marketing efforts and inventory availability in high-demand states.</a:t>
            </a:r>
            <a:endParaRPr lang="en-US" sz="950" dirty="0"/>
          </a:p>
        </p:txBody>
      </p:sp>
      <p:sp>
        <p:nvSpPr>
          <p:cNvPr id="18" name="Shape 16"/>
          <p:cNvSpPr/>
          <p:nvPr/>
        </p:nvSpPr>
        <p:spPr>
          <a:xfrm>
            <a:off x="274320" y="3785616"/>
            <a:ext cx="4297680" cy="365760"/>
          </a:xfrm>
          <a:prstGeom prst="rect">
            <a:avLst/>
          </a:prstGeom>
          <a:solidFill>
            <a:srgbClr val="E3F2FD"/>
          </a:solidFill>
          <a:ln w="12700">
            <a:solidFill>
              <a:srgbClr val="00BCD4"/>
            </a:solidFill>
            <a:prstDash val="solid"/>
          </a:ln>
        </p:spPr>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Explore growth opportunities in regions showing emerging customer demand.</a:t>
            </a:r>
            <a:endParaRPr lang="en-US" sz="950" dirty="0"/>
          </a:p>
        </p:txBody>
      </p:sp>
      <p:pic>
        <p:nvPicPr>
          <p:cNvPr id="21" name="Picture 20">
            <a:extLst>
              <a:ext uri="{FF2B5EF4-FFF2-40B4-BE49-F238E27FC236}">
                <a16:creationId xmlns:a16="http://schemas.microsoft.com/office/drawing/2014/main" id="{02F03098-2A96-926D-AF2D-A491E6AE78F1}"/>
              </a:ext>
            </a:extLst>
          </p:cNvPr>
          <p:cNvPicPr>
            <a:picLocks noChangeAspect="1"/>
          </p:cNvPicPr>
          <p:nvPr/>
        </p:nvPicPr>
        <p:blipFill>
          <a:blip r:embed="rId3"/>
          <a:stretch>
            <a:fillRect/>
          </a:stretch>
        </p:blipFill>
        <p:spPr>
          <a:xfrm>
            <a:off x="6312726" y="2907792"/>
            <a:ext cx="2648394" cy="2019439"/>
          </a:xfrm>
          <a:prstGeom prst="rect">
            <a:avLst/>
          </a:prstGeom>
        </p:spPr>
      </p:pic>
      <p:pic>
        <p:nvPicPr>
          <p:cNvPr id="23" name="Picture 22">
            <a:extLst>
              <a:ext uri="{FF2B5EF4-FFF2-40B4-BE49-F238E27FC236}">
                <a16:creationId xmlns:a16="http://schemas.microsoft.com/office/drawing/2014/main" id="{20409CDF-8BCE-0FF2-6286-9FD3B6765802}"/>
              </a:ext>
            </a:extLst>
          </p:cNvPr>
          <p:cNvPicPr>
            <a:picLocks noChangeAspect="1"/>
          </p:cNvPicPr>
          <p:nvPr/>
        </p:nvPicPr>
        <p:blipFill>
          <a:blip r:embed="rId4"/>
          <a:stretch>
            <a:fillRect/>
          </a:stretch>
        </p:blipFill>
        <p:spPr>
          <a:xfrm>
            <a:off x="4637912" y="3090672"/>
            <a:ext cx="1629094" cy="15112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0533"/>
          </a:solidFill>
          <a:ln w="12700">
            <a:solidFill>
              <a:srgbClr val="1A0533"/>
            </a:solidFill>
            <a:prstDash val="solid"/>
          </a:ln>
        </p:spPr>
      </p:sp>
      <p:sp>
        <p:nvSpPr>
          <p:cNvPr id="3" name="Text 1"/>
          <p:cNvSpPr/>
          <p:nvPr/>
        </p:nvSpPr>
        <p:spPr>
          <a:xfrm>
            <a:off x="274320" y="0"/>
            <a:ext cx="4572000" cy="594360"/>
          </a:xfrm>
          <a:prstGeom prst="rect">
            <a:avLst/>
          </a:prstGeom>
          <a:noFill/>
          <a:ln/>
        </p:spPr>
        <p:txBody>
          <a:bodyPr wrap="square" rtlCol="0" anchor="ctr"/>
          <a:lstStyle/>
          <a:p>
            <a:pPr marL="0" indent="0">
              <a:buNone/>
            </a:pPr>
            <a:r>
              <a:rPr lang="en-US" sz="900" b="1" kern="0" spc="300" dirty="0">
                <a:solidFill>
                  <a:srgbClr val="CE93D8"/>
                </a:solidFill>
                <a:latin typeface="Calibri" pitchFamily="34" charset="0"/>
                <a:ea typeface="Calibri" pitchFamily="34" charset="-122"/>
                <a:cs typeface="Calibri" pitchFamily="34" charset="-120"/>
              </a:rPr>
              <a:t>MULTIVARIATE ANALYSIS 1</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1700" b="1" dirty="0">
                <a:solidFill>
                  <a:srgbClr val="FFFFFF"/>
                </a:solidFill>
                <a:latin typeface="Calibri" pitchFamily="34" charset="0"/>
                <a:ea typeface="Calibri" pitchFamily="34" charset="-122"/>
                <a:cs typeface="Calibri" pitchFamily="34" charset="-120"/>
              </a:rPr>
              <a:t>Sales · Shipping Days · Order Status</a:t>
            </a:r>
            <a:endParaRPr lang="en-US" sz="17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Do shipping delays influence sales performance and order outcomes? How does delivery efficiency affect customer satisfaction and business performance?</a:t>
            </a:r>
            <a:endParaRPr lang="en-US" sz="1000" dirty="0"/>
          </a:p>
        </p:txBody>
      </p:sp>
      <p:sp>
        <p:nvSpPr>
          <p:cNvPr id="7" name="Shape 5"/>
          <p:cNvSpPr/>
          <p:nvPr/>
        </p:nvSpPr>
        <p:spPr>
          <a:xfrm>
            <a:off x="27432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6A1B9A"/>
          </a:solidFill>
          <a:ln w="12700">
            <a:solidFill>
              <a:srgbClr val="6A1B9A"/>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6A1B9A"/>
                </a:solidFill>
                <a:latin typeface="Calibri" pitchFamily="34" charset="0"/>
                <a:ea typeface="Calibri" pitchFamily="34" charset="-122"/>
                <a:cs typeface="Calibri" pitchFamily="34" charset="-120"/>
              </a:rPr>
              <a:t>⏱️  Delays Linked to Poor Outcomes</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Longer shipping times were associated with less favorable order outcomes, linking delivery speed to fulfillment success.</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Delivery Affects Revenue</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Delivery performance appeared to influence both revenue generation and order success, making logistics a strategic priority.</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5098869"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Reduce shipping delays through process optimization and improved logistics coordination.</a:t>
            </a:r>
            <a:endParaRPr lang="en-US" sz="950" dirty="0"/>
          </a:p>
        </p:txBody>
      </p:sp>
      <p:sp>
        <p:nvSpPr>
          <p:cNvPr id="18" name="Shape 16"/>
          <p:cNvSpPr/>
          <p:nvPr/>
        </p:nvSpPr>
        <p:spPr>
          <a:xfrm>
            <a:off x="274320" y="3785616"/>
            <a:ext cx="5098869" cy="365760"/>
          </a:xfrm>
          <a:prstGeom prst="rect">
            <a:avLst/>
          </a:prstGeom>
          <a:solidFill>
            <a:srgbClr val="E3F2FD"/>
          </a:solidFill>
          <a:ln w="12700">
            <a:solidFill>
              <a:srgbClr val="00BCD4"/>
            </a:solidFill>
            <a:prstDash val="solid"/>
          </a:ln>
        </p:spPr>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Establish performance monitoring systems to track shipping efficiency and customer satisfaction.</a:t>
            </a:r>
            <a:endParaRPr lang="en-US" sz="950" dirty="0"/>
          </a:p>
        </p:txBody>
      </p:sp>
      <p:pic>
        <p:nvPicPr>
          <p:cNvPr id="21" name="Picture 20">
            <a:extLst>
              <a:ext uri="{FF2B5EF4-FFF2-40B4-BE49-F238E27FC236}">
                <a16:creationId xmlns:a16="http://schemas.microsoft.com/office/drawing/2014/main" id="{DD932FF1-AC68-F9DE-042E-36513D78938F}"/>
              </a:ext>
            </a:extLst>
          </p:cNvPr>
          <p:cNvPicPr>
            <a:picLocks noChangeAspect="1"/>
          </p:cNvPicPr>
          <p:nvPr/>
        </p:nvPicPr>
        <p:blipFill>
          <a:blip r:embed="rId3"/>
          <a:stretch>
            <a:fillRect/>
          </a:stretch>
        </p:blipFill>
        <p:spPr>
          <a:xfrm>
            <a:off x="5464628" y="3057144"/>
            <a:ext cx="3405051" cy="2011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0533"/>
          </a:solidFill>
          <a:ln w="12700">
            <a:solidFill>
              <a:srgbClr val="1A0533"/>
            </a:solidFill>
            <a:prstDash val="solid"/>
          </a:ln>
        </p:spPr>
      </p:sp>
      <p:sp>
        <p:nvSpPr>
          <p:cNvPr id="3" name="Text 1"/>
          <p:cNvSpPr/>
          <p:nvPr/>
        </p:nvSpPr>
        <p:spPr>
          <a:xfrm>
            <a:off x="274320" y="0"/>
            <a:ext cx="4572000" cy="594360"/>
          </a:xfrm>
          <a:prstGeom prst="rect">
            <a:avLst/>
          </a:prstGeom>
          <a:noFill/>
          <a:ln/>
        </p:spPr>
        <p:txBody>
          <a:bodyPr wrap="square" rtlCol="0" anchor="ctr"/>
          <a:lstStyle/>
          <a:p>
            <a:pPr marL="0" indent="0">
              <a:buNone/>
            </a:pPr>
            <a:r>
              <a:rPr lang="en-US" sz="900" b="1" kern="0" spc="300" dirty="0">
                <a:solidFill>
                  <a:srgbClr val="CE93D8"/>
                </a:solidFill>
                <a:latin typeface="Calibri" pitchFamily="34" charset="0"/>
                <a:ea typeface="Calibri" pitchFamily="34" charset="-122"/>
                <a:cs typeface="Calibri" pitchFamily="34" charset="-120"/>
              </a:rPr>
              <a:t>MULTIVARIATE ANALYSIS 2</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1700" b="1" dirty="0">
                <a:solidFill>
                  <a:srgbClr val="FFFFFF"/>
                </a:solidFill>
                <a:latin typeface="Calibri" pitchFamily="34" charset="0"/>
                <a:ea typeface="Calibri" pitchFamily="34" charset="-122"/>
                <a:cs typeface="Calibri" pitchFamily="34" charset="-120"/>
              </a:rPr>
              <a:t>Shipping Mode · Sales · Order Status</a:t>
            </a:r>
            <a:endParaRPr lang="en-US" sz="17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Which shipping methods perform best when considering both revenue and order completion rates? How can the company optimize its delivery strategy for better business outcomes?</a:t>
            </a:r>
            <a:endParaRPr lang="en-US" sz="1000" dirty="0"/>
          </a:p>
        </p:txBody>
      </p:sp>
      <p:sp>
        <p:nvSpPr>
          <p:cNvPr id="7" name="Shape 5"/>
          <p:cNvSpPr/>
          <p:nvPr/>
        </p:nvSpPr>
        <p:spPr>
          <a:xfrm>
            <a:off x="274320" y="1627632"/>
            <a:ext cx="252984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6A1B9A"/>
          </a:solidFill>
          <a:ln w="12700">
            <a:solidFill>
              <a:srgbClr val="6A1B9A"/>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6A1B9A"/>
                </a:solidFill>
                <a:latin typeface="Calibri" pitchFamily="34" charset="0"/>
                <a:ea typeface="Calibri" pitchFamily="34" charset="-122"/>
                <a:cs typeface="Calibri" pitchFamily="34" charset="-120"/>
              </a:rPr>
              <a:t>🥇  Best-Performing Modes</a:t>
            </a:r>
            <a:endParaRPr lang="en-US" sz="1000" dirty="0"/>
          </a:p>
        </p:txBody>
      </p:sp>
      <p:sp>
        <p:nvSpPr>
          <p:cNvPr id="10" name="Text 8"/>
          <p:cNvSpPr/>
          <p:nvPr/>
        </p:nvSpPr>
        <p:spPr>
          <a:xfrm>
            <a:off x="411480" y="2011680"/>
            <a:ext cx="2235926"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Certain shipping methods consistently achieved higher sales and stronger completion rates across orders.</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Variable Effectiveness</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Shipping effectiveness varied significantly across different delivery options, revealing clear performance gaps between modes.</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5281749"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Prioritize investment in shipping methods that deliver strong financial and operational performance.</a:t>
            </a:r>
            <a:endParaRPr lang="en-US" sz="950" dirty="0"/>
          </a:p>
        </p:txBody>
      </p:sp>
      <p:sp>
        <p:nvSpPr>
          <p:cNvPr id="18" name="Shape 16"/>
          <p:cNvSpPr/>
          <p:nvPr/>
        </p:nvSpPr>
        <p:spPr>
          <a:xfrm>
            <a:off x="274320" y="3785616"/>
            <a:ext cx="5281749" cy="365760"/>
          </a:xfrm>
          <a:prstGeom prst="rect">
            <a:avLst/>
          </a:prstGeom>
          <a:solidFill>
            <a:srgbClr val="E3F2FD"/>
          </a:solidFill>
          <a:ln w="12700">
            <a:solidFill>
              <a:srgbClr val="00BCD4"/>
            </a:solidFill>
            <a:prstDash val="solid"/>
          </a:ln>
        </p:spPr>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Improve service quality for delivery methods that show lower completion rates.</a:t>
            </a:r>
            <a:endParaRPr lang="en-US" sz="950" dirty="0"/>
          </a:p>
        </p:txBody>
      </p:sp>
      <p:pic>
        <p:nvPicPr>
          <p:cNvPr id="21" name="Picture 20">
            <a:extLst>
              <a:ext uri="{FF2B5EF4-FFF2-40B4-BE49-F238E27FC236}">
                <a16:creationId xmlns:a16="http://schemas.microsoft.com/office/drawing/2014/main" id="{0E324726-B07B-606B-B682-89A2D8A8F2EF}"/>
              </a:ext>
            </a:extLst>
          </p:cNvPr>
          <p:cNvPicPr>
            <a:picLocks noChangeAspect="1"/>
          </p:cNvPicPr>
          <p:nvPr/>
        </p:nvPicPr>
        <p:blipFill>
          <a:blip r:embed="rId3"/>
          <a:stretch>
            <a:fillRect/>
          </a:stretch>
        </p:blipFill>
        <p:spPr>
          <a:xfrm>
            <a:off x="5745967" y="3090672"/>
            <a:ext cx="2871406" cy="1839168"/>
          </a:xfrm>
          <a:prstGeom prst="rect">
            <a:avLst/>
          </a:prstGeom>
        </p:spPr>
      </p:pic>
      <p:pic>
        <p:nvPicPr>
          <p:cNvPr id="23" name="Picture 22">
            <a:extLst>
              <a:ext uri="{FF2B5EF4-FFF2-40B4-BE49-F238E27FC236}">
                <a16:creationId xmlns:a16="http://schemas.microsoft.com/office/drawing/2014/main" id="{D9A8279E-1380-F22F-8EDE-05341D5E9AA3}"/>
              </a:ext>
            </a:extLst>
          </p:cNvPr>
          <p:cNvPicPr>
            <a:picLocks noChangeAspect="1"/>
          </p:cNvPicPr>
          <p:nvPr/>
        </p:nvPicPr>
        <p:blipFill>
          <a:blip r:embed="rId4"/>
          <a:stretch>
            <a:fillRect/>
          </a:stretch>
        </p:blipFill>
        <p:spPr>
          <a:xfrm>
            <a:off x="2941320" y="1563624"/>
            <a:ext cx="1813560" cy="15629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A0533"/>
          </a:solidFill>
          <a:ln w="12700">
            <a:solidFill>
              <a:srgbClr val="1A0533"/>
            </a:solidFill>
            <a:prstDash val="solid"/>
          </a:ln>
        </p:spPr>
      </p:sp>
      <p:sp>
        <p:nvSpPr>
          <p:cNvPr id="3" name="Text 1"/>
          <p:cNvSpPr/>
          <p:nvPr/>
        </p:nvSpPr>
        <p:spPr>
          <a:xfrm>
            <a:off x="274320" y="0"/>
            <a:ext cx="4572000" cy="594360"/>
          </a:xfrm>
          <a:prstGeom prst="rect">
            <a:avLst/>
          </a:prstGeom>
          <a:noFill/>
          <a:ln/>
        </p:spPr>
        <p:txBody>
          <a:bodyPr wrap="square" rtlCol="0" anchor="ctr"/>
          <a:lstStyle/>
          <a:p>
            <a:pPr marL="0" indent="0">
              <a:buNone/>
            </a:pPr>
            <a:r>
              <a:rPr lang="en-US" sz="900" b="1" kern="0" spc="300" dirty="0">
                <a:solidFill>
                  <a:srgbClr val="CE93D8"/>
                </a:solidFill>
                <a:latin typeface="Calibri" pitchFamily="34" charset="0"/>
                <a:ea typeface="Calibri" pitchFamily="34" charset="-122"/>
                <a:cs typeface="Calibri" pitchFamily="34" charset="-120"/>
              </a:rPr>
              <a:t>MULTIVARIATE ANALYSIS 3</a:t>
            </a:r>
            <a:endParaRPr lang="en-US" sz="900" dirty="0"/>
          </a:p>
        </p:txBody>
      </p:sp>
      <p:sp>
        <p:nvSpPr>
          <p:cNvPr id="4" name="Text 2"/>
          <p:cNvSpPr/>
          <p:nvPr/>
        </p:nvSpPr>
        <p:spPr>
          <a:xfrm>
            <a:off x="274320" y="0"/>
            <a:ext cx="8595360" cy="594360"/>
          </a:xfrm>
          <a:prstGeom prst="rect">
            <a:avLst/>
          </a:prstGeom>
          <a:noFill/>
          <a:ln/>
        </p:spPr>
        <p:txBody>
          <a:bodyPr wrap="square" rtlCol="0" anchor="ctr"/>
          <a:lstStyle/>
          <a:p>
            <a:pPr marL="0" indent="0" algn="r">
              <a:buNone/>
            </a:pPr>
            <a:r>
              <a:rPr lang="en-US" sz="1700" b="1" dirty="0">
                <a:solidFill>
                  <a:srgbClr val="FFFFFF"/>
                </a:solidFill>
                <a:latin typeface="Calibri" pitchFamily="34" charset="0"/>
                <a:ea typeface="Calibri" pitchFamily="34" charset="-122"/>
                <a:cs typeface="Calibri" pitchFamily="34" charset="-120"/>
              </a:rPr>
              <a:t>State · Shipping Mode · Sales</a:t>
            </a:r>
            <a:endParaRPr lang="en-US" sz="1700" dirty="0"/>
          </a:p>
        </p:txBody>
      </p:sp>
      <p:sp>
        <p:nvSpPr>
          <p:cNvPr id="5" name="Text 3"/>
          <p:cNvSpPr/>
          <p:nvPr/>
        </p:nvSpPr>
        <p:spPr>
          <a:xfrm>
            <a:off x="274320" y="749808"/>
            <a:ext cx="8595360" cy="274320"/>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BUSINESS PROBLEM</a:t>
            </a:r>
            <a:endParaRPr lang="en-US" sz="900" dirty="0"/>
          </a:p>
        </p:txBody>
      </p:sp>
      <p:sp>
        <p:nvSpPr>
          <p:cNvPr id="6" name="Text 4"/>
          <p:cNvSpPr/>
          <p:nvPr/>
        </p:nvSpPr>
        <p:spPr>
          <a:xfrm>
            <a:off x="274320" y="1005840"/>
            <a:ext cx="8595360" cy="502920"/>
          </a:xfrm>
          <a:prstGeom prst="rect">
            <a:avLst/>
          </a:prstGeom>
          <a:noFill/>
          <a:ln/>
        </p:spPr>
        <p:txBody>
          <a:bodyPr wrap="square" rtlCol="0" anchor="ctr"/>
          <a:lstStyle/>
          <a:p>
            <a:pPr marL="0" indent="0">
              <a:buNone/>
            </a:pPr>
            <a:r>
              <a:rPr lang="en-US" sz="1000" dirty="0">
                <a:solidFill>
                  <a:srgbClr val="1A2332"/>
                </a:solidFill>
                <a:latin typeface="Calibri" pitchFamily="34" charset="0"/>
                <a:ea typeface="Calibri" pitchFamily="34" charset="-122"/>
                <a:cs typeface="Calibri" pitchFamily="34" charset="-120"/>
              </a:rPr>
              <a:t>How do regional customer preferences and shipping choices affect revenue generation? Which geographic markets provide the greatest revenue opportunities?</a:t>
            </a:r>
            <a:endParaRPr lang="en-US" sz="1000" dirty="0"/>
          </a:p>
        </p:txBody>
      </p:sp>
      <p:sp>
        <p:nvSpPr>
          <p:cNvPr id="7" name="Shape 5"/>
          <p:cNvSpPr/>
          <p:nvPr/>
        </p:nvSpPr>
        <p:spPr>
          <a:xfrm>
            <a:off x="27432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8" name="Shape 6"/>
          <p:cNvSpPr/>
          <p:nvPr/>
        </p:nvSpPr>
        <p:spPr>
          <a:xfrm>
            <a:off x="274320" y="1627632"/>
            <a:ext cx="64008" cy="1280160"/>
          </a:xfrm>
          <a:prstGeom prst="rect">
            <a:avLst/>
          </a:prstGeom>
          <a:solidFill>
            <a:srgbClr val="6A1B9A"/>
          </a:solidFill>
          <a:ln w="12700">
            <a:solidFill>
              <a:srgbClr val="6A1B9A"/>
            </a:solidFill>
            <a:prstDash val="solid"/>
          </a:ln>
        </p:spPr>
      </p:sp>
      <p:sp>
        <p:nvSpPr>
          <p:cNvPr id="9" name="Text 7"/>
          <p:cNvSpPr/>
          <p:nvPr/>
        </p:nvSpPr>
        <p:spPr>
          <a:xfrm>
            <a:off x="411480" y="1719072"/>
            <a:ext cx="3931920" cy="274320"/>
          </a:xfrm>
          <a:prstGeom prst="rect">
            <a:avLst/>
          </a:prstGeom>
          <a:noFill/>
          <a:ln/>
        </p:spPr>
        <p:txBody>
          <a:bodyPr wrap="square" rtlCol="0" anchor="ctr"/>
          <a:lstStyle/>
          <a:p>
            <a:pPr marL="0" indent="0">
              <a:buNone/>
            </a:pPr>
            <a:r>
              <a:rPr lang="en-US" sz="1000" b="1" dirty="0">
                <a:solidFill>
                  <a:srgbClr val="6A1B9A"/>
                </a:solidFill>
                <a:latin typeface="Calibri" pitchFamily="34" charset="0"/>
                <a:ea typeface="Calibri" pitchFamily="34" charset="-122"/>
                <a:cs typeface="Calibri" pitchFamily="34" charset="-120"/>
              </a:rPr>
              <a:t>🌎  Regional Revenue Gaps</a:t>
            </a:r>
            <a:endParaRPr lang="en-US" sz="1000" dirty="0"/>
          </a:p>
        </p:txBody>
      </p:sp>
      <p:sp>
        <p:nvSpPr>
          <p:cNvPr id="10" name="Text 8"/>
          <p:cNvSpPr/>
          <p:nvPr/>
        </p:nvSpPr>
        <p:spPr>
          <a:xfrm>
            <a:off x="41148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Revenue generation differed significantly across states and shipping methods, exposing strong geographic patterns.</a:t>
            </a:r>
            <a:endParaRPr lang="en-US" sz="950" dirty="0"/>
          </a:p>
        </p:txBody>
      </p:sp>
      <p:sp>
        <p:nvSpPr>
          <p:cNvPr id="11" name="Shape 9"/>
          <p:cNvSpPr/>
          <p:nvPr/>
        </p:nvSpPr>
        <p:spPr>
          <a:xfrm>
            <a:off x="4754880" y="1627632"/>
            <a:ext cx="4114800" cy="1280160"/>
          </a:xfrm>
          <a:prstGeom prst="rect">
            <a:avLst/>
          </a:prstGeom>
          <a:solidFill>
            <a:srgbClr val="FFFFFF"/>
          </a:solidFill>
          <a:ln/>
          <a:effectLst>
            <a:outerShdw blurRad="101600" dist="25400" dir="8100000" algn="bl" rotWithShape="0">
              <a:srgbClr val="000000">
                <a:alpha val="10000"/>
              </a:srgbClr>
            </a:outerShdw>
          </a:effectLst>
        </p:spPr>
      </p:sp>
      <p:sp>
        <p:nvSpPr>
          <p:cNvPr id="12" name="Shape 10"/>
          <p:cNvSpPr/>
          <p:nvPr/>
        </p:nvSpPr>
        <p:spPr>
          <a:xfrm>
            <a:off x="4754880" y="1627632"/>
            <a:ext cx="64008" cy="1280160"/>
          </a:xfrm>
          <a:prstGeom prst="rect">
            <a:avLst/>
          </a:prstGeom>
          <a:solidFill>
            <a:srgbClr val="0097A7"/>
          </a:solidFill>
          <a:ln w="12700">
            <a:solidFill>
              <a:srgbClr val="0097A7"/>
            </a:solidFill>
            <a:prstDash val="solid"/>
          </a:ln>
        </p:spPr>
      </p:sp>
      <p:sp>
        <p:nvSpPr>
          <p:cNvPr id="13" name="Text 11"/>
          <p:cNvSpPr/>
          <p:nvPr/>
        </p:nvSpPr>
        <p:spPr>
          <a:xfrm>
            <a:off x="4892040" y="1719072"/>
            <a:ext cx="3931920" cy="274320"/>
          </a:xfrm>
          <a:prstGeom prst="rect">
            <a:avLst/>
          </a:prstGeom>
          <a:noFill/>
          <a:ln/>
        </p:spPr>
        <p:txBody>
          <a:bodyPr wrap="square" rtlCol="0" anchor="ctr"/>
          <a:lstStyle/>
          <a:p>
            <a:pPr marL="0" indent="0">
              <a:buNone/>
            </a:pPr>
            <a:r>
              <a:rPr lang="en-US" sz="1000" b="1" dirty="0">
                <a:solidFill>
                  <a:srgbClr val="0097A7"/>
                </a:solidFill>
                <a:latin typeface="Calibri" pitchFamily="34" charset="0"/>
                <a:ea typeface="Calibri" pitchFamily="34" charset="-122"/>
                <a:cs typeface="Calibri" pitchFamily="34" charset="-120"/>
              </a:rPr>
              <a:t>💡  High-Value Combinations</a:t>
            </a:r>
            <a:endParaRPr lang="en-US" sz="1000" dirty="0"/>
          </a:p>
        </p:txBody>
      </p:sp>
      <p:sp>
        <p:nvSpPr>
          <p:cNvPr id="14" name="Text 12"/>
          <p:cNvSpPr/>
          <p:nvPr/>
        </p:nvSpPr>
        <p:spPr>
          <a:xfrm>
            <a:off x="4892040" y="2011680"/>
            <a:ext cx="3931920" cy="804672"/>
          </a:xfrm>
          <a:prstGeom prst="rect">
            <a:avLst/>
          </a:prstGeom>
          <a:noFill/>
          <a:ln/>
        </p:spPr>
        <p:txBody>
          <a:bodyPr wrap="square" rtlCol="0" anchor="t"/>
          <a:lstStyle/>
          <a:p>
            <a:pPr marL="0" indent="0">
              <a:buNone/>
            </a:pPr>
            <a:r>
              <a:rPr lang="en-US" sz="950" dirty="0">
                <a:solidFill>
                  <a:srgbClr val="1A2332"/>
                </a:solidFill>
                <a:latin typeface="Calibri" pitchFamily="34" charset="0"/>
                <a:ea typeface="Calibri" pitchFamily="34" charset="-122"/>
                <a:cs typeface="Calibri" pitchFamily="34" charset="-120"/>
              </a:rPr>
              <a:t>Certain combinations of region and shipping mode generated substantially higher sales, indicating strategic sweet spots.</a:t>
            </a:r>
            <a:endParaRPr lang="en-US" sz="950" dirty="0"/>
          </a:p>
        </p:txBody>
      </p:sp>
      <p:sp>
        <p:nvSpPr>
          <p:cNvPr id="15" name="Text 13"/>
          <p:cNvSpPr/>
          <p:nvPr/>
        </p:nvSpPr>
        <p:spPr>
          <a:xfrm>
            <a:off x="274320" y="3090672"/>
            <a:ext cx="8595360" cy="256032"/>
          </a:xfrm>
          <a:prstGeom prst="rect">
            <a:avLst/>
          </a:prstGeom>
          <a:noFill/>
          <a:ln/>
        </p:spPr>
        <p:txBody>
          <a:bodyPr wrap="square" rtlCol="0" anchor="ctr"/>
          <a:lstStyle/>
          <a:p>
            <a:pPr marL="0" indent="0">
              <a:buNone/>
            </a:pPr>
            <a:r>
              <a:rPr lang="en-US" sz="900" b="1" kern="0" spc="200" dirty="0">
                <a:solidFill>
                  <a:srgbClr val="0097A7"/>
                </a:solidFill>
                <a:latin typeface="Calibri" pitchFamily="34" charset="0"/>
                <a:ea typeface="Calibri" pitchFamily="34" charset="-122"/>
                <a:cs typeface="Calibri" pitchFamily="34" charset="-120"/>
              </a:rPr>
              <a:t>RECOMMENDATIONS</a:t>
            </a:r>
            <a:endParaRPr lang="en-US" sz="900" dirty="0"/>
          </a:p>
        </p:txBody>
      </p:sp>
      <p:sp>
        <p:nvSpPr>
          <p:cNvPr id="16" name="Shape 14"/>
          <p:cNvSpPr/>
          <p:nvPr/>
        </p:nvSpPr>
        <p:spPr>
          <a:xfrm>
            <a:off x="274320" y="3364992"/>
            <a:ext cx="4617720" cy="365760"/>
          </a:xfrm>
          <a:prstGeom prst="rect">
            <a:avLst/>
          </a:prstGeom>
          <a:solidFill>
            <a:srgbClr val="E3F2FD"/>
          </a:solidFill>
          <a:ln w="12700">
            <a:solidFill>
              <a:srgbClr val="00BCD4"/>
            </a:solidFill>
            <a:prstDash val="solid"/>
          </a:ln>
        </p:spPr>
      </p:sp>
      <p:sp>
        <p:nvSpPr>
          <p:cNvPr id="17" name="Text 15"/>
          <p:cNvSpPr/>
          <p:nvPr/>
        </p:nvSpPr>
        <p:spPr>
          <a:xfrm>
            <a:off x="365760" y="3364992"/>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Develop region-specific marketing and shipping strategies based on customer behavior.</a:t>
            </a:r>
            <a:endParaRPr lang="en-US" sz="950" dirty="0"/>
          </a:p>
        </p:txBody>
      </p:sp>
      <p:sp>
        <p:nvSpPr>
          <p:cNvPr id="18" name="Shape 16"/>
          <p:cNvSpPr/>
          <p:nvPr/>
        </p:nvSpPr>
        <p:spPr>
          <a:xfrm>
            <a:off x="274320" y="3785616"/>
            <a:ext cx="4617720" cy="365760"/>
          </a:xfrm>
          <a:prstGeom prst="rect">
            <a:avLst/>
          </a:prstGeom>
          <a:solidFill>
            <a:srgbClr val="E3F2FD"/>
          </a:solidFill>
          <a:ln w="12700">
            <a:solidFill>
              <a:srgbClr val="00BCD4"/>
            </a:solidFill>
            <a:prstDash val="solid"/>
          </a:ln>
        </p:spPr>
      </p:sp>
      <p:sp>
        <p:nvSpPr>
          <p:cNvPr id="19" name="Text 17"/>
          <p:cNvSpPr/>
          <p:nvPr/>
        </p:nvSpPr>
        <p:spPr>
          <a:xfrm>
            <a:off x="365760" y="3785616"/>
            <a:ext cx="8092440" cy="365760"/>
          </a:xfrm>
          <a:prstGeom prst="rect">
            <a:avLst/>
          </a:prstGeom>
          <a:noFill/>
          <a:ln/>
        </p:spPr>
        <p:txBody>
          <a:bodyPr wrap="square" rtlCol="0" anchor="ctr"/>
          <a:lstStyle/>
          <a:p>
            <a:pPr marL="0" indent="0">
              <a:buNone/>
            </a:pPr>
            <a:r>
              <a:rPr lang="en-US" sz="950" dirty="0">
                <a:solidFill>
                  <a:srgbClr val="1565C0"/>
                </a:solidFill>
                <a:latin typeface="Calibri" pitchFamily="34" charset="0"/>
                <a:ea typeface="Calibri" pitchFamily="34" charset="-122"/>
                <a:cs typeface="Calibri" pitchFamily="34" charset="-120"/>
              </a:rPr>
              <a:t>→  Increase investment and operational support in high-revenue markets.</a:t>
            </a:r>
            <a:endParaRPr lang="en-US" sz="950" dirty="0"/>
          </a:p>
        </p:txBody>
      </p:sp>
      <p:pic>
        <p:nvPicPr>
          <p:cNvPr id="21" name="Picture 20">
            <a:extLst>
              <a:ext uri="{FF2B5EF4-FFF2-40B4-BE49-F238E27FC236}">
                <a16:creationId xmlns:a16="http://schemas.microsoft.com/office/drawing/2014/main" id="{5F8948AE-F1BF-F16D-696B-1690235AF815}"/>
              </a:ext>
            </a:extLst>
          </p:cNvPr>
          <p:cNvPicPr>
            <a:picLocks noChangeAspect="1"/>
          </p:cNvPicPr>
          <p:nvPr/>
        </p:nvPicPr>
        <p:blipFill>
          <a:blip r:embed="rId3"/>
          <a:stretch>
            <a:fillRect/>
          </a:stretch>
        </p:blipFill>
        <p:spPr>
          <a:xfrm>
            <a:off x="5262590" y="2588723"/>
            <a:ext cx="3515650" cy="23937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B4E"/>
        </a:solidFill>
        <a:effectLst/>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081D36"/>
          </a:solidFill>
          <a:ln w="12700">
            <a:solidFill>
              <a:srgbClr val="081D36"/>
            </a:solidFill>
            <a:prstDash val="solid"/>
          </a:ln>
        </p:spPr>
      </p:sp>
      <p:sp>
        <p:nvSpPr>
          <p:cNvPr id="3" name="Shape 1"/>
          <p:cNvSpPr/>
          <p:nvPr/>
        </p:nvSpPr>
        <p:spPr>
          <a:xfrm>
            <a:off x="6263640" y="228600"/>
            <a:ext cx="91440" cy="91440"/>
          </a:xfrm>
          <a:prstGeom prst="ellipse">
            <a:avLst/>
          </a:prstGeom>
          <a:solidFill>
            <a:srgbClr val="00BCD4">
              <a:alpha val="45000"/>
            </a:srgbClr>
          </a:solidFill>
          <a:ln w="12700">
            <a:solidFill>
              <a:srgbClr val="00BCD4">
                <a:alpha val="45000"/>
              </a:srgbClr>
            </a:solidFill>
            <a:prstDash val="solid"/>
          </a:ln>
        </p:spPr>
      </p:sp>
      <p:sp>
        <p:nvSpPr>
          <p:cNvPr id="4" name="Shape 2"/>
          <p:cNvSpPr/>
          <p:nvPr/>
        </p:nvSpPr>
        <p:spPr>
          <a:xfrm>
            <a:off x="6858000" y="228600"/>
            <a:ext cx="91440" cy="91440"/>
          </a:xfrm>
          <a:prstGeom prst="ellipse">
            <a:avLst/>
          </a:prstGeom>
          <a:solidFill>
            <a:srgbClr val="00BCD4">
              <a:alpha val="45000"/>
            </a:srgbClr>
          </a:solidFill>
          <a:ln w="12700">
            <a:solidFill>
              <a:srgbClr val="00BCD4">
                <a:alpha val="45000"/>
              </a:srgbClr>
            </a:solidFill>
            <a:prstDash val="solid"/>
          </a:ln>
        </p:spPr>
      </p:sp>
      <p:sp>
        <p:nvSpPr>
          <p:cNvPr id="5" name="Shape 3"/>
          <p:cNvSpPr/>
          <p:nvPr/>
        </p:nvSpPr>
        <p:spPr>
          <a:xfrm>
            <a:off x="7452360" y="228600"/>
            <a:ext cx="91440" cy="91440"/>
          </a:xfrm>
          <a:prstGeom prst="ellipse">
            <a:avLst/>
          </a:prstGeom>
          <a:solidFill>
            <a:srgbClr val="00BCD4">
              <a:alpha val="45000"/>
            </a:srgbClr>
          </a:solidFill>
          <a:ln w="12700">
            <a:solidFill>
              <a:srgbClr val="00BCD4">
                <a:alpha val="45000"/>
              </a:srgbClr>
            </a:solidFill>
            <a:prstDash val="solid"/>
          </a:ln>
        </p:spPr>
      </p:sp>
      <p:sp>
        <p:nvSpPr>
          <p:cNvPr id="6" name="Shape 4"/>
          <p:cNvSpPr/>
          <p:nvPr/>
        </p:nvSpPr>
        <p:spPr>
          <a:xfrm>
            <a:off x="8046720" y="228600"/>
            <a:ext cx="91440" cy="91440"/>
          </a:xfrm>
          <a:prstGeom prst="ellipse">
            <a:avLst/>
          </a:prstGeom>
          <a:solidFill>
            <a:srgbClr val="00BCD4">
              <a:alpha val="45000"/>
            </a:srgbClr>
          </a:solidFill>
          <a:ln w="12700">
            <a:solidFill>
              <a:srgbClr val="00BCD4">
                <a:alpha val="45000"/>
              </a:srgbClr>
            </a:solidFill>
            <a:prstDash val="solid"/>
          </a:ln>
        </p:spPr>
      </p:sp>
      <p:sp>
        <p:nvSpPr>
          <p:cNvPr id="7" name="Shape 5"/>
          <p:cNvSpPr/>
          <p:nvPr/>
        </p:nvSpPr>
        <p:spPr>
          <a:xfrm>
            <a:off x="6263640" y="914400"/>
            <a:ext cx="91440" cy="91440"/>
          </a:xfrm>
          <a:prstGeom prst="ellipse">
            <a:avLst/>
          </a:prstGeom>
          <a:solidFill>
            <a:srgbClr val="00BCD4">
              <a:alpha val="45000"/>
            </a:srgbClr>
          </a:solidFill>
          <a:ln w="12700">
            <a:solidFill>
              <a:srgbClr val="00BCD4">
                <a:alpha val="45000"/>
              </a:srgbClr>
            </a:solidFill>
            <a:prstDash val="solid"/>
          </a:ln>
        </p:spPr>
      </p:sp>
      <p:sp>
        <p:nvSpPr>
          <p:cNvPr id="8" name="Shape 6"/>
          <p:cNvSpPr/>
          <p:nvPr/>
        </p:nvSpPr>
        <p:spPr>
          <a:xfrm>
            <a:off x="6858000" y="914400"/>
            <a:ext cx="91440" cy="91440"/>
          </a:xfrm>
          <a:prstGeom prst="ellipse">
            <a:avLst/>
          </a:prstGeom>
          <a:solidFill>
            <a:srgbClr val="00BCD4">
              <a:alpha val="45000"/>
            </a:srgbClr>
          </a:solidFill>
          <a:ln w="12700">
            <a:solidFill>
              <a:srgbClr val="00BCD4">
                <a:alpha val="45000"/>
              </a:srgbClr>
            </a:solidFill>
            <a:prstDash val="solid"/>
          </a:ln>
        </p:spPr>
      </p:sp>
      <p:sp>
        <p:nvSpPr>
          <p:cNvPr id="9" name="Shape 7"/>
          <p:cNvSpPr/>
          <p:nvPr/>
        </p:nvSpPr>
        <p:spPr>
          <a:xfrm>
            <a:off x="7452360" y="914400"/>
            <a:ext cx="91440" cy="91440"/>
          </a:xfrm>
          <a:prstGeom prst="ellipse">
            <a:avLst/>
          </a:prstGeom>
          <a:solidFill>
            <a:srgbClr val="00BCD4">
              <a:alpha val="45000"/>
            </a:srgbClr>
          </a:solidFill>
          <a:ln w="12700">
            <a:solidFill>
              <a:srgbClr val="00BCD4">
                <a:alpha val="45000"/>
              </a:srgbClr>
            </a:solidFill>
            <a:prstDash val="solid"/>
          </a:ln>
        </p:spPr>
      </p:sp>
      <p:sp>
        <p:nvSpPr>
          <p:cNvPr id="10" name="Shape 8"/>
          <p:cNvSpPr/>
          <p:nvPr/>
        </p:nvSpPr>
        <p:spPr>
          <a:xfrm>
            <a:off x="8046720" y="914400"/>
            <a:ext cx="91440" cy="91440"/>
          </a:xfrm>
          <a:prstGeom prst="ellipse">
            <a:avLst/>
          </a:prstGeom>
          <a:solidFill>
            <a:srgbClr val="00BCD4">
              <a:alpha val="45000"/>
            </a:srgbClr>
          </a:solidFill>
          <a:ln w="12700">
            <a:solidFill>
              <a:srgbClr val="00BCD4">
                <a:alpha val="45000"/>
              </a:srgbClr>
            </a:solidFill>
            <a:prstDash val="solid"/>
          </a:ln>
        </p:spPr>
      </p:sp>
      <p:sp>
        <p:nvSpPr>
          <p:cNvPr id="11" name="Shape 9"/>
          <p:cNvSpPr/>
          <p:nvPr/>
        </p:nvSpPr>
        <p:spPr>
          <a:xfrm>
            <a:off x="6263640" y="1600200"/>
            <a:ext cx="91440" cy="91440"/>
          </a:xfrm>
          <a:prstGeom prst="ellipse">
            <a:avLst/>
          </a:prstGeom>
          <a:solidFill>
            <a:srgbClr val="00BCD4">
              <a:alpha val="45000"/>
            </a:srgbClr>
          </a:solidFill>
          <a:ln w="12700">
            <a:solidFill>
              <a:srgbClr val="00BCD4">
                <a:alpha val="45000"/>
              </a:srgbClr>
            </a:solidFill>
            <a:prstDash val="solid"/>
          </a:ln>
        </p:spPr>
      </p:sp>
      <p:sp>
        <p:nvSpPr>
          <p:cNvPr id="12" name="Shape 10"/>
          <p:cNvSpPr/>
          <p:nvPr/>
        </p:nvSpPr>
        <p:spPr>
          <a:xfrm>
            <a:off x="6858000" y="1600200"/>
            <a:ext cx="91440" cy="91440"/>
          </a:xfrm>
          <a:prstGeom prst="ellipse">
            <a:avLst/>
          </a:prstGeom>
          <a:solidFill>
            <a:srgbClr val="00BCD4">
              <a:alpha val="45000"/>
            </a:srgbClr>
          </a:solidFill>
          <a:ln w="12700">
            <a:solidFill>
              <a:srgbClr val="00BCD4">
                <a:alpha val="45000"/>
              </a:srgbClr>
            </a:solidFill>
            <a:prstDash val="solid"/>
          </a:ln>
        </p:spPr>
      </p:sp>
      <p:sp>
        <p:nvSpPr>
          <p:cNvPr id="13" name="Shape 11"/>
          <p:cNvSpPr/>
          <p:nvPr/>
        </p:nvSpPr>
        <p:spPr>
          <a:xfrm>
            <a:off x="7452360" y="1600200"/>
            <a:ext cx="91440" cy="91440"/>
          </a:xfrm>
          <a:prstGeom prst="ellipse">
            <a:avLst/>
          </a:prstGeom>
          <a:solidFill>
            <a:srgbClr val="00BCD4">
              <a:alpha val="45000"/>
            </a:srgbClr>
          </a:solidFill>
          <a:ln w="12700">
            <a:solidFill>
              <a:srgbClr val="00BCD4">
                <a:alpha val="45000"/>
              </a:srgbClr>
            </a:solidFill>
            <a:prstDash val="solid"/>
          </a:ln>
        </p:spPr>
      </p:sp>
      <p:sp>
        <p:nvSpPr>
          <p:cNvPr id="14" name="Shape 12"/>
          <p:cNvSpPr/>
          <p:nvPr/>
        </p:nvSpPr>
        <p:spPr>
          <a:xfrm>
            <a:off x="8046720" y="1600200"/>
            <a:ext cx="91440" cy="91440"/>
          </a:xfrm>
          <a:prstGeom prst="ellipse">
            <a:avLst/>
          </a:prstGeom>
          <a:solidFill>
            <a:srgbClr val="00BCD4">
              <a:alpha val="45000"/>
            </a:srgbClr>
          </a:solidFill>
          <a:ln w="12700">
            <a:solidFill>
              <a:srgbClr val="00BCD4">
                <a:alpha val="45000"/>
              </a:srgbClr>
            </a:solidFill>
            <a:prstDash val="solid"/>
          </a:ln>
        </p:spPr>
      </p:sp>
      <p:sp>
        <p:nvSpPr>
          <p:cNvPr id="15" name="Shape 13"/>
          <p:cNvSpPr/>
          <p:nvPr/>
        </p:nvSpPr>
        <p:spPr>
          <a:xfrm>
            <a:off x="6263640" y="2286000"/>
            <a:ext cx="91440" cy="91440"/>
          </a:xfrm>
          <a:prstGeom prst="ellipse">
            <a:avLst/>
          </a:prstGeom>
          <a:solidFill>
            <a:srgbClr val="00BCD4">
              <a:alpha val="45000"/>
            </a:srgbClr>
          </a:solidFill>
          <a:ln w="12700">
            <a:solidFill>
              <a:srgbClr val="00BCD4">
                <a:alpha val="45000"/>
              </a:srgbClr>
            </a:solidFill>
            <a:prstDash val="solid"/>
          </a:ln>
        </p:spPr>
      </p:sp>
      <p:sp>
        <p:nvSpPr>
          <p:cNvPr id="16" name="Shape 14"/>
          <p:cNvSpPr/>
          <p:nvPr/>
        </p:nvSpPr>
        <p:spPr>
          <a:xfrm>
            <a:off x="6858000" y="2286000"/>
            <a:ext cx="91440" cy="91440"/>
          </a:xfrm>
          <a:prstGeom prst="ellipse">
            <a:avLst/>
          </a:prstGeom>
          <a:solidFill>
            <a:srgbClr val="00BCD4">
              <a:alpha val="45000"/>
            </a:srgbClr>
          </a:solidFill>
          <a:ln w="12700">
            <a:solidFill>
              <a:srgbClr val="00BCD4">
                <a:alpha val="45000"/>
              </a:srgbClr>
            </a:solidFill>
            <a:prstDash val="solid"/>
          </a:ln>
        </p:spPr>
      </p:sp>
      <p:sp>
        <p:nvSpPr>
          <p:cNvPr id="17" name="Shape 15"/>
          <p:cNvSpPr/>
          <p:nvPr/>
        </p:nvSpPr>
        <p:spPr>
          <a:xfrm>
            <a:off x="7452360" y="2286000"/>
            <a:ext cx="91440" cy="91440"/>
          </a:xfrm>
          <a:prstGeom prst="ellipse">
            <a:avLst/>
          </a:prstGeom>
          <a:solidFill>
            <a:srgbClr val="00BCD4">
              <a:alpha val="45000"/>
            </a:srgbClr>
          </a:solidFill>
          <a:ln w="12700">
            <a:solidFill>
              <a:srgbClr val="00BCD4">
                <a:alpha val="45000"/>
              </a:srgbClr>
            </a:solidFill>
            <a:prstDash val="solid"/>
          </a:ln>
        </p:spPr>
      </p:sp>
      <p:sp>
        <p:nvSpPr>
          <p:cNvPr id="18" name="Shape 16"/>
          <p:cNvSpPr/>
          <p:nvPr/>
        </p:nvSpPr>
        <p:spPr>
          <a:xfrm>
            <a:off x="8046720" y="2286000"/>
            <a:ext cx="91440" cy="91440"/>
          </a:xfrm>
          <a:prstGeom prst="ellipse">
            <a:avLst/>
          </a:prstGeom>
          <a:solidFill>
            <a:srgbClr val="00BCD4">
              <a:alpha val="45000"/>
            </a:srgbClr>
          </a:solidFill>
          <a:ln w="12700">
            <a:solidFill>
              <a:srgbClr val="00BCD4">
                <a:alpha val="45000"/>
              </a:srgbClr>
            </a:solidFill>
            <a:prstDash val="solid"/>
          </a:ln>
        </p:spPr>
      </p:sp>
      <p:sp>
        <p:nvSpPr>
          <p:cNvPr id="19" name="Shape 17"/>
          <p:cNvSpPr/>
          <p:nvPr/>
        </p:nvSpPr>
        <p:spPr>
          <a:xfrm>
            <a:off x="6263640" y="2971800"/>
            <a:ext cx="91440" cy="91440"/>
          </a:xfrm>
          <a:prstGeom prst="ellipse">
            <a:avLst/>
          </a:prstGeom>
          <a:solidFill>
            <a:srgbClr val="00BCD4">
              <a:alpha val="45000"/>
            </a:srgbClr>
          </a:solidFill>
          <a:ln w="12700">
            <a:solidFill>
              <a:srgbClr val="00BCD4">
                <a:alpha val="45000"/>
              </a:srgbClr>
            </a:solidFill>
            <a:prstDash val="solid"/>
          </a:ln>
        </p:spPr>
      </p:sp>
      <p:sp>
        <p:nvSpPr>
          <p:cNvPr id="20" name="Shape 18"/>
          <p:cNvSpPr/>
          <p:nvPr/>
        </p:nvSpPr>
        <p:spPr>
          <a:xfrm>
            <a:off x="6858000" y="2971800"/>
            <a:ext cx="91440" cy="91440"/>
          </a:xfrm>
          <a:prstGeom prst="ellipse">
            <a:avLst/>
          </a:prstGeom>
          <a:solidFill>
            <a:srgbClr val="00BCD4">
              <a:alpha val="45000"/>
            </a:srgbClr>
          </a:solidFill>
          <a:ln w="12700">
            <a:solidFill>
              <a:srgbClr val="00BCD4">
                <a:alpha val="45000"/>
              </a:srgbClr>
            </a:solidFill>
            <a:prstDash val="solid"/>
          </a:ln>
        </p:spPr>
      </p:sp>
      <p:sp>
        <p:nvSpPr>
          <p:cNvPr id="21" name="Shape 19"/>
          <p:cNvSpPr/>
          <p:nvPr/>
        </p:nvSpPr>
        <p:spPr>
          <a:xfrm>
            <a:off x="7452360" y="2971800"/>
            <a:ext cx="91440" cy="91440"/>
          </a:xfrm>
          <a:prstGeom prst="ellipse">
            <a:avLst/>
          </a:prstGeom>
          <a:solidFill>
            <a:srgbClr val="00BCD4">
              <a:alpha val="45000"/>
            </a:srgbClr>
          </a:solidFill>
          <a:ln w="12700">
            <a:solidFill>
              <a:srgbClr val="00BCD4">
                <a:alpha val="45000"/>
              </a:srgbClr>
            </a:solidFill>
            <a:prstDash val="solid"/>
          </a:ln>
        </p:spPr>
      </p:sp>
      <p:sp>
        <p:nvSpPr>
          <p:cNvPr id="22" name="Shape 20"/>
          <p:cNvSpPr/>
          <p:nvPr/>
        </p:nvSpPr>
        <p:spPr>
          <a:xfrm>
            <a:off x="8046720" y="2971800"/>
            <a:ext cx="91440" cy="91440"/>
          </a:xfrm>
          <a:prstGeom prst="ellipse">
            <a:avLst/>
          </a:prstGeom>
          <a:solidFill>
            <a:srgbClr val="00BCD4">
              <a:alpha val="45000"/>
            </a:srgbClr>
          </a:solidFill>
          <a:ln w="12700">
            <a:solidFill>
              <a:srgbClr val="00BCD4">
                <a:alpha val="45000"/>
              </a:srgbClr>
            </a:solidFill>
            <a:prstDash val="solid"/>
          </a:ln>
        </p:spPr>
      </p:sp>
      <p:sp>
        <p:nvSpPr>
          <p:cNvPr id="23" name="Shape 21"/>
          <p:cNvSpPr/>
          <p:nvPr/>
        </p:nvSpPr>
        <p:spPr>
          <a:xfrm>
            <a:off x="6263640" y="3657600"/>
            <a:ext cx="91440" cy="91440"/>
          </a:xfrm>
          <a:prstGeom prst="ellipse">
            <a:avLst/>
          </a:prstGeom>
          <a:solidFill>
            <a:srgbClr val="00BCD4">
              <a:alpha val="45000"/>
            </a:srgbClr>
          </a:solidFill>
          <a:ln w="12700">
            <a:solidFill>
              <a:srgbClr val="00BCD4">
                <a:alpha val="45000"/>
              </a:srgbClr>
            </a:solidFill>
            <a:prstDash val="solid"/>
          </a:ln>
        </p:spPr>
      </p:sp>
      <p:sp>
        <p:nvSpPr>
          <p:cNvPr id="24" name="Shape 22"/>
          <p:cNvSpPr/>
          <p:nvPr/>
        </p:nvSpPr>
        <p:spPr>
          <a:xfrm>
            <a:off x="6858000" y="3657600"/>
            <a:ext cx="91440" cy="91440"/>
          </a:xfrm>
          <a:prstGeom prst="ellipse">
            <a:avLst/>
          </a:prstGeom>
          <a:solidFill>
            <a:srgbClr val="00BCD4">
              <a:alpha val="45000"/>
            </a:srgbClr>
          </a:solidFill>
          <a:ln w="12700">
            <a:solidFill>
              <a:srgbClr val="00BCD4">
                <a:alpha val="45000"/>
              </a:srgbClr>
            </a:solidFill>
            <a:prstDash val="solid"/>
          </a:ln>
        </p:spPr>
      </p:sp>
      <p:sp>
        <p:nvSpPr>
          <p:cNvPr id="25" name="Shape 23"/>
          <p:cNvSpPr/>
          <p:nvPr/>
        </p:nvSpPr>
        <p:spPr>
          <a:xfrm>
            <a:off x="7452360" y="3657600"/>
            <a:ext cx="91440" cy="91440"/>
          </a:xfrm>
          <a:prstGeom prst="ellipse">
            <a:avLst/>
          </a:prstGeom>
          <a:solidFill>
            <a:srgbClr val="00BCD4">
              <a:alpha val="45000"/>
            </a:srgbClr>
          </a:solidFill>
          <a:ln w="12700">
            <a:solidFill>
              <a:srgbClr val="00BCD4">
                <a:alpha val="45000"/>
              </a:srgbClr>
            </a:solidFill>
            <a:prstDash val="solid"/>
          </a:ln>
        </p:spPr>
      </p:sp>
      <p:sp>
        <p:nvSpPr>
          <p:cNvPr id="26" name="Shape 24"/>
          <p:cNvSpPr/>
          <p:nvPr/>
        </p:nvSpPr>
        <p:spPr>
          <a:xfrm>
            <a:off x="8046720" y="3657600"/>
            <a:ext cx="91440" cy="91440"/>
          </a:xfrm>
          <a:prstGeom prst="ellipse">
            <a:avLst/>
          </a:prstGeom>
          <a:solidFill>
            <a:srgbClr val="00BCD4">
              <a:alpha val="45000"/>
            </a:srgbClr>
          </a:solidFill>
          <a:ln w="12700">
            <a:solidFill>
              <a:srgbClr val="00BCD4">
                <a:alpha val="45000"/>
              </a:srgbClr>
            </a:solidFill>
            <a:prstDash val="solid"/>
          </a:ln>
        </p:spPr>
      </p:sp>
      <p:sp>
        <p:nvSpPr>
          <p:cNvPr id="27" name="Shape 25"/>
          <p:cNvSpPr/>
          <p:nvPr/>
        </p:nvSpPr>
        <p:spPr>
          <a:xfrm>
            <a:off x="6263640" y="4343400"/>
            <a:ext cx="91440" cy="91440"/>
          </a:xfrm>
          <a:prstGeom prst="ellipse">
            <a:avLst/>
          </a:prstGeom>
          <a:solidFill>
            <a:srgbClr val="00BCD4">
              <a:alpha val="45000"/>
            </a:srgbClr>
          </a:solidFill>
          <a:ln w="12700">
            <a:solidFill>
              <a:srgbClr val="00BCD4">
                <a:alpha val="45000"/>
              </a:srgbClr>
            </a:solidFill>
            <a:prstDash val="solid"/>
          </a:ln>
        </p:spPr>
      </p:sp>
      <p:sp>
        <p:nvSpPr>
          <p:cNvPr id="28" name="Shape 26"/>
          <p:cNvSpPr/>
          <p:nvPr/>
        </p:nvSpPr>
        <p:spPr>
          <a:xfrm>
            <a:off x="6858000" y="4343400"/>
            <a:ext cx="91440" cy="91440"/>
          </a:xfrm>
          <a:prstGeom prst="ellipse">
            <a:avLst/>
          </a:prstGeom>
          <a:solidFill>
            <a:srgbClr val="00BCD4">
              <a:alpha val="45000"/>
            </a:srgbClr>
          </a:solidFill>
          <a:ln w="12700">
            <a:solidFill>
              <a:srgbClr val="00BCD4">
                <a:alpha val="45000"/>
              </a:srgbClr>
            </a:solidFill>
            <a:prstDash val="solid"/>
          </a:ln>
        </p:spPr>
      </p:sp>
      <p:sp>
        <p:nvSpPr>
          <p:cNvPr id="29" name="Shape 27"/>
          <p:cNvSpPr/>
          <p:nvPr/>
        </p:nvSpPr>
        <p:spPr>
          <a:xfrm>
            <a:off x="7452360" y="4343400"/>
            <a:ext cx="91440" cy="91440"/>
          </a:xfrm>
          <a:prstGeom prst="ellipse">
            <a:avLst/>
          </a:prstGeom>
          <a:solidFill>
            <a:srgbClr val="00BCD4">
              <a:alpha val="45000"/>
            </a:srgbClr>
          </a:solidFill>
          <a:ln w="12700">
            <a:solidFill>
              <a:srgbClr val="00BCD4">
                <a:alpha val="45000"/>
              </a:srgbClr>
            </a:solidFill>
            <a:prstDash val="solid"/>
          </a:ln>
        </p:spPr>
      </p:sp>
      <p:sp>
        <p:nvSpPr>
          <p:cNvPr id="30" name="Shape 28"/>
          <p:cNvSpPr/>
          <p:nvPr/>
        </p:nvSpPr>
        <p:spPr>
          <a:xfrm>
            <a:off x="8046720" y="4343400"/>
            <a:ext cx="91440" cy="91440"/>
          </a:xfrm>
          <a:prstGeom prst="ellipse">
            <a:avLst/>
          </a:prstGeom>
          <a:solidFill>
            <a:srgbClr val="00BCD4">
              <a:alpha val="45000"/>
            </a:srgbClr>
          </a:solidFill>
          <a:ln w="12700">
            <a:solidFill>
              <a:srgbClr val="00BCD4">
                <a:alpha val="45000"/>
              </a:srgbClr>
            </a:solidFill>
            <a:prstDash val="solid"/>
          </a:ln>
        </p:spPr>
      </p:sp>
      <p:sp>
        <p:nvSpPr>
          <p:cNvPr id="31" name="Text 29"/>
          <p:cNvSpPr/>
          <p:nvPr/>
        </p:nvSpPr>
        <p:spPr>
          <a:xfrm>
            <a:off x="365760" y="365760"/>
            <a:ext cx="5486400" cy="320040"/>
          </a:xfrm>
          <a:prstGeom prst="rect">
            <a:avLst/>
          </a:prstGeom>
          <a:noFill/>
          <a:ln/>
        </p:spPr>
        <p:txBody>
          <a:bodyPr wrap="square" rtlCol="0" anchor="ctr"/>
          <a:lstStyle/>
          <a:p>
            <a:pPr marL="0" indent="0">
              <a:buNone/>
            </a:pPr>
            <a:r>
              <a:rPr lang="en-US" sz="900" b="1" kern="0" spc="400" dirty="0">
                <a:solidFill>
                  <a:srgbClr val="00BCD4"/>
                </a:solidFill>
                <a:latin typeface="Calibri" pitchFamily="34" charset="0"/>
                <a:ea typeface="Calibri" pitchFamily="34" charset="-122"/>
                <a:cs typeface="Calibri" pitchFamily="34" charset="-120"/>
              </a:rPr>
              <a:t>OVERALL SUMMARY</a:t>
            </a:r>
            <a:endParaRPr lang="en-US" sz="900" dirty="0"/>
          </a:p>
        </p:txBody>
      </p:sp>
      <p:sp>
        <p:nvSpPr>
          <p:cNvPr id="32" name="Text 30"/>
          <p:cNvSpPr/>
          <p:nvPr/>
        </p:nvSpPr>
        <p:spPr>
          <a:xfrm>
            <a:off x="365760" y="713232"/>
            <a:ext cx="5486400" cy="10972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Findings &amp;</a:t>
            </a:r>
            <a:endParaRPr lang="en-US" sz="2600" dirty="0"/>
          </a:p>
          <a:p>
            <a:pPr marL="0" indent="0">
              <a:buNone/>
            </a:pPr>
            <a:r>
              <a:rPr lang="en-US" sz="2600" b="1" dirty="0">
                <a:solidFill>
                  <a:srgbClr val="FFFFFF"/>
                </a:solidFill>
                <a:latin typeface="Calibri" pitchFamily="34" charset="0"/>
                <a:ea typeface="Calibri" pitchFamily="34" charset="-122"/>
                <a:cs typeface="Calibri" pitchFamily="34" charset="-120"/>
              </a:rPr>
              <a:t>Strategic Recommendations</a:t>
            </a:r>
            <a:endParaRPr lang="en-US" sz="2600" dirty="0"/>
          </a:p>
        </p:txBody>
      </p:sp>
      <p:sp>
        <p:nvSpPr>
          <p:cNvPr id="33" name="Text 31"/>
          <p:cNvSpPr/>
          <p:nvPr/>
        </p:nvSpPr>
        <p:spPr>
          <a:xfrm>
            <a:off x="365760" y="1965960"/>
            <a:ext cx="5303520" cy="274320"/>
          </a:xfrm>
          <a:prstGeom prst="rect">
            <a:avLst/>
          </a:prstGeom>
          <a:noFill/>
          <a:ln/>
        </p:spPr>
        <p:txBody>
          <a:bodyPr wrap="square" rtlCol="0" anchor="ctr"/>
          <a:lstStyle/>
          <a:p>
            <a:pPr marL="0" indent="0">
              <a:buNone/>
            </a:pPr>
            <a:r>
              <a:rPr lang="en-US" sz="900" b="1" kern="0" spc="200" dirty="0">
                <a:solidFill>
                  <a:srgbClr val="00BCD4"/>
                </a:solidFill>
                <a:latin typeface="Calibri" pitchFamily="34" charset="0"/>
                <a:ea typeface="Calibri" pitchFamily="34" charset="-122"/>
                <a:cs typeface="Calibri" pitchFamily="34" charset="-120"/>
              </a:rPr>
              <a:t>KEY FINDINGS</a:t>
            </a:r>
            <a:endParaRPr lang="en-US" sz="900" dirty="0"/>
          </a:p>
        </p:txBody>
      </p:sp>
      <p:sp>
        <p:nvSpPr>
          <p:cNvPr id="34" name="Text 32"/>
          <p:cNvSpPr/>
          <p:nvPr/>
        </p:nvSpPr>
        <p:spPr>
          <a:xfrm>
            <a:off x="365760" y="2267712"/>
            <a:ext cx="5303520" cy="914400"/>
          </a:xfrm>
          <a:prstGeom prst="rect">
            <a:avLst/>
          </a:prstGeom>
          <a:noFill/>
          <a:ln/>
        </p:spPr>
        <p:txBody>
          <a:bodyPr wrap="square" rtlCol="0" anchor="ctr"/>
          <a:lstStyle/>
          <a:p>
            <a:pPr marL="342900" indent="-342900">
              <a:buSzPct val="100000"/>
              <a:buChar char="•"/>
            </a:pPr>
            <a:r>
              <a:rPr lang="en-US" sz="1000" dirty="0">
                <a:solidFill>
                  <a:srgbClr val="B0C4DE"/>
                </a:solidFill>
                <a:latin typeface="Calibri" pitchFamily="34" charset="0"/>
                <a:ea typeface="Calibri" pitchFamily="34" charset="-122"/>
                <a:cs typeface="Calibri" pitchFamily="34" charset="-120"/>
              </a:rPr>
              <a:t>Customer spending, shipping preferences, and geographic location all significantly influenced business performance.</a:t>
            </a:r>
            <a:endParaRPr lang="en-US" sz="1000" dirty="0"/>
          </a:p>
          <a:p>
            <a:pPr marL="342900" indent="-342900">
              <a:buSzPct val="100000"/>
              <a:buChar char="•"/>
            </a:pPr>
            <a:r>
              <a:rPr lang="en-US" sz="1000" dirty="0">
                <a:solidFill>
                  <a:srgbClr val="B0C4DE"/>
                </a:solidFill>
                <a:latin typeface="Calibri" pitchFamily="34" charset="0"/>
                <a:ea typeface="Calibri" pitchFamily="34" charset="-122"/>
                <a:cs typeface="Calibri" pitchFamily="34" charset="-120"/>
              </a:rPr>
              <a:t>Delivery efficiency and order completion rates played a critical role in revenue generation and customer satisfaction.</a:t>
            </a:r>
            <a:endParaRPr lang="en-US" sz="1000" dirty="0"/>
          </a:p>
        </p:txBody>
      </p:sp>
      <p:sp>
        <p:nvSpPr>
          <p:cNvPr id="35" name="Text 33"/>
          <p:cNvSpPr/>
          <p:nvPr/>
        </p:nvSpPr>
        <p:spPr>
          <a:xfrm>
            <a:off x="365760" y="3273552"/>
            <a:ext cx="5303520" cy="274320"/>
          </a:xfrm>
          <a:prstGeom prst="rect">
            <a:avLst/>
          </a:prstGeom>
          <a:noFill/>
          <a:ln/>
        </p:spPr>
        <p:txBody>
          <a:bodyPr wrap="square" rtlCol="0" anchor="ctr"/>
          <a:lstStyle/>
          <a:p>
            <a:pPr marL="0" indent="0">
              <a:buNone/>
            </a:pPr>
            <a:r>
              <a:rPr lang="en-US" sz="900" b="1" kern="0" spc="200" dirty="0">
                <a:solidFill>
                  <a:srgbClr val="F9A825"/>
                </a:solidFill>
                <a:latin typeface="Calibri" pitchFamily="34" charset="0"/>
                <a:ea typeface="Calibri" pitchFamily="34" charset="-122"/>
                <a:cs typeface="Calibri" pitchFamily="34" charset="-120"/>
              </a:rPr>
              <a:t>STRATEGIC RECOMMENDATIONS</a:t>
            </a:r>
            <a:endParaRPr lang="en-US" sz="900" dirty="0"/>
          </a:p>
        </p:txBody>
      </p:sp>
      <p:sp>
        <p:nvSpPr>
          <p:cNvPr id="36" name="Text 34"/>
          <p:cNvSpPr/>
          <p:nvPr/>
        </p:nvSpPr>
        <p:spPr>
          <a:xfrm>
            <a:off x="365760" y="3566160"/>
            <a:ext cx="5303520" cy="1097280"/>
          </a:xfrm>
          <a:prstGeom prst="rect">
            <a:avLst/>
          </a:prstGeom>
          <a:noFill/>
          <a:ln/>
        </p:spPr>
        <p:txBody>
          <a:bodyPr wrap="square" rtlCol="0" anchor="ctr"/>
          <a:lstStyle/>
          <a:p>
            <a:pPr marL="342900" indent="-342900">
              <a:buSzPct val="100000"/>
              <a:buChar char="•"/>
            </a:pPr>
            <a:r>
              <a:rPr lang="en-US" sz="1000" dirty="0">
                <a:solidFill>
                  <a:srgbClr val="FFE082"/>
                </a:solidFill>
                <a:latin typeface="Calibri" pitchFamily="34" charset="0"/>
                <a:ea typeface="Calibri" pitchFamily="34" charset="-122"/>
                <a:cs typeface="Calibri" pitchFamily="34" charset="-120"/>
              </a:rPr>
              <a:t>Focus on retaining high-value customers while improving order fulfillment and delivery performance.</a:t>
            </a:r>
            <a:endParaRPr lang="en-US" sz="1000" dirty="0"/>
          </a:p>
          <a:p>
            <a:pPr marL="342900" indent="-342900">
              <a:buSzPct val="100000"/>
              <a:buChar char="•"/>
            </a:pPr>
            <a:r>
              <a:rPr lang="en-US" sz="1000" dirty="0">
                <a:solidFill>
                  <a:srgbClr val="FFE082"/>
                </a:solidFill>
                <a:latin typeface="Calibri" pitchFamily="34" charset="0"/>
                <a:ea typeface="Calibri" pitchFamily="34" charset="-122"/>
                <a:cs typeface="Calibri" pitchFamily="34" charset="-120"/>
              </a:rPr>
              <a:t>Continue using data-driven analytics to support logistics optimization, customer targeting, and business growth.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1826</Words>
  <Application>Microsoft Office PowerPoint</Application>
  <PresentationFormat>On-screen Show (16:9)</PresentationFormat>
  <Paragraphs>126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Supply Chain Analytics</dc:title>
  <dc:subject>PptxGenJS Presentation</dc:subject>
  <dc:creator>PptxGenJS</dc:creator>
  <cp:lastModifiedBy>Bidushi Khan</cp:lastModifiedBy>
  <cp:revision>10</cp:revision>
  <dcterms:created xsi:type="dcterms:W3CDTF">2026-06-02T17:24:04Z</dcterms:created>
  <dcterms:modified xsi:type="dcterms:W3CDTF">2026-06-10T16:56:27Z</dcterms:modified>
</cp:coreProperties>
</file>